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ink/ink1.xml" ContentType="application/inkml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microsoft.com/office/2020/02/relationships/classificationlabels" Target="docMetadata/LabelInfo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97" r:id="rId1"/>
  </p:sldMasterIdLst>
  <p:notesMasterIdLst>
    <p:notesMasterId r:id="rId20"/>
  </p:notesMasterIdLst>
  <p:sldIdLst>
    <p:sldId id="256" r:id="rId2"/>
    <p:sldId id="258" r:id="rId3"/>
    <p:sldId id="260" r:id="rId4"/>
    <p:sldId id="287" r:id="rId5"/>
    <p:sldId id="294" r:id="rId6"/>
    <p:sldId id="295" r:id="rId7"/>
    <p:sldId id="296" r:id="rId8"/>
    <p:sldId id="297" r:id="rId9"/>
    <p:sldId id="298" r:id="rId10"/>
    <p:sldId id="299" r:id="rId11"/>
    <p:sldId id="300" r:id="rId12"/>
    <p:sldId id="301" r:id="rId13"/>
    <p:sldId id="303" r:id="rId14"/>
    <p:sldId id="304" r:id="rId15"/>
    <p:sldId id="305" r:id="rId16"/>
    <p:sldId id="306" r:id="rId17"/>
    <p:sldId id="308" r:id="rId18"/>
    <p:sldId id="276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3D17B6CB-33E8-DF47-9E41-3E592A27981A}">
          <p14:sldIdLst>
            <p14:sldId id="256"/>
            <p14:sldId id="258"/>
            <p14:sldId id="260"/>
            <p14:sldId id="287"/>
            <p14:sldId id="294"/>
            <p14:sldId id="295"/>
            <p14:sldId id="296"/>
            <p14:sldId id="297"/>
            <p14:sldId id="298"/>
            <p14:sldId id="299"/>
            <p14:sldId id="300"/>
            <p14:sldId id="301"/>
            <p14:sldId id="303"/>
            <p14:sldId id="304"/>
            <p14:sldId id="305"/>
            <p14:sldId id="306"/>
            <p14:sldId id="308"/>
          </p14:sldIdLst>
        </p14:section>
        <p14:section name="Untitled Section" id="{60402F81-2AA8-6F44-B18B-313AE2A7D44A}">
          <p14:sldIdLst>
            <p14:sldId id="27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–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–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–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706"/>
    <p:restoredTop sz="96035"/>
  </p:normalViewPr>
  <p:slideViewPr>
    <p:cSldViewPr snapToGrid="0">
      <p:cViewPr>
        <p:scale>
          <a:sx n="104" d="100"/>
          <a:sy n="104" d="100"/>
        </p:scale>
        <p:origin x="640" y="6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svg"/><Relationship Id="rId1" Type="http://schemas.openxmlformats.org/officeDocument/2006/relationships/image" Target="../media/image1.png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svg"/><Relationship Id="rId1" Type="http://schemas.openxmlformats.org/officeDocument/2006/relationships/image" Target="../media/image1.png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5F7B0A1-AFDD-499B-9FFF-AB3F720B1C3C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FEDF5BFB-B7F5-48D0-8A28-176F99CA2D93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2400" dirty="0"/>
            <a:t>Task 1 : Hardware Design – The MAC Unit (Compute Core)</a:t>
          </a:r>
        </a:p>
      </dgm:t>
    </dgm:pt>
    <dgm:pt modelId="{D67E3ED1-179E-462B-811A-652EF193AB76}" type="parTrans" cxnId="{4A5640E0-9B5D-430A-9EA2-1833F99CE820}">
      <dgm:prSet/>
      <dgm:spPr/>
      <dgm:t>
        <a:bodyPr/>
        <a:lstStyle/>
        <a:p>
          <a:endParaRPr lang="en-US"/>
        </a:p>
      </dgm:t>
    </dgm:pt>
    <dgm:pt modelId="{98CE3B5A-FD77-4A27-90E5-A9102823E1D5}" type="sibTrans" cxnId="{4A5640E0-9B5D-430A-9EA2-1833F99CE820}">
      <dgm:prSet/>
      <dgm:spPr/>
      <dgm:t>
        <a:bodyPr/>
        <a:lstStyle/>
        <a:p>
          <a:endParaRPr lang="en-US"/>
        </a:p>
      </dgm:t>
    </dgm:pt>
    <dgm:pt modelId="{A8EEFE12-0536-4B2C-B7A7-C7814CFF1EAE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2400" dirty="0"/>
            <a:t>Task 2 : System Integration – Memory Mapped Interface</a:t>
          </a:r>
        </a:p>
      </dgm:t>
    </dgm:pt>
    <dgm:pt modelId="{F6A90730-17B0-4238-946F-9AB02269A998}" type="parTrans" cxnId="{7E2F5073-4827-4B64-8962-92E835DA08DB}">
      <dgm:prSet/>
      <dgm:spPr/>
      <dgm:t>
        <a:bodyPr/>
        <a:lstStyle/>
        <a:p>
          <a:endParaRPr lang="en-US"/>
        </a:p>
      </dgm:t>
    </dgm:pt>
    <dgm:pt modelId="{FCEBDF34-8F0C-4305-B9E4-3AC5F7F33208}" type="sibTrans" cxnId="{7E2F5073-4827-4B64-8962-92E835DA08DB}">
      <dgm:prSet/>
      <dgm:spPr/>
      <dgm:t>
        <a:bodyPr/>
        <a:lstStyle/>
        <a:p>
          <a:endParaRPr lang="en-US"/>
        </a:p>
      </dgm:t>
    </dgm:pt>
    <dgm:pt modelId="{49AA32F1-28CC-4C70-BBBB-E90C41015DC4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2400" dirty="0"/>
            <a:t>Task 3 : Processor Microarchitecture</a:t>
          </a:r>
        </a:p>
      </dgm:t>
    </dgm:pt>
    <dgm:pt modelId="{39D8BD58-EDA6-43D8-84FF-5B023AB86FE0}" type="parTrans" cxnId="{34BF6B5F-4E68-4ED2-8715-BAD4366DAB84}">
      <dgm:prSet/>
      <dgm:spPr/>
      <dgm:t>
        <a:bodyPr/>
        <a:lstStyle/>
        <a:p>
          <a:endParaRPr lang="en-US"/>
        </a:p>
      </dgm:t>
    </dgm:pt>
    <dgm:pt modelId="{249F9575-3170-4121-B700-78797441A683}" type="sibTrans" cxnId="{34BF6B5F-4E68-4ED2-8715-BAD4366DAB84}">
      <dgm:prSet/>
      <dgm:spPr/>
      <dgm:t>
        <a:bodyPr/>
        <a:lstStyle/>
        <a:p>
          <a:endParaRPr lang="en-US"/>
        </a:p>
      </dgm:t>
    </dgm:pt>
    <dgm:pt modelId="{E1FA1037-EF85-4EF7-9D68-7E9EF4FA7B27}" type="pres">
      <dgm:prSet presAssocID="{95F7B0A1-AFDD-499B-9FFF-AB3F720B1C3C}" presName="root" presStyleCnt="0">
        <dgm:presLayoutVars>
          <dgm:dir/>
          <dgm:resizeHandles val="exact"/>
        </dgm:presLayoutVars>
      </dgm:prSet>
      <dgm:spPr/>
    </dgm:pt>
    <dgm:pt modelId="{4DBA5E2A-F8BC-4CD9-A13E-5893EC327946}" type="pres">
      <dgm:prSet presAssocID="{FEDF5BFB-B7F5-48D0-8A28-176F99CA2D93}" presName="compNode" presStyleCnt="0"/>
      <dgm:spPr/>
    </dgm:pt>
    <dgm:pt modelId="{A5F5C772-B470-41E3-A54E-0920A13ED364}" type="pres">
      <dgm:prSet presAssocID="{FEDF5BFB-B7F5-48D0-8A28-176F99CA2D93}" presName="bgRect" presStyleLbl="bgShp" presStyleIdx="0" presStyleCnt="3"/>
      <dgm:spPr/>
    </dgm:pt>
    <dgm:pt modelId="{F1F056BD-934D-4135-9FFD-298807978734}" type="pres">
      <dgm:prSet presAssocID="{FEDF5BFB-B7F5-48D0-8A28-176F99CA2D93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ranching diagram with solid fill"/>
        </a:ext>
      </dgm:extLst>
    </dgm:pt>
    <dgm:pt modelId="{E3C6DAE3-C7EA-45DE-A8D1-35750AAC3768}" type="pres">
      <dgm:prSet presAssocID="{FEDF5BFB-B7F5-48D0-8A28-176F99CA2D93}" presName="spaceRect" presStyleCnt="0"/>
      <dgm:spPr/>
    </dgm:pt>
    <dgm:pt modelId="{8491BE31-1D72-4272-8DEA-8D637D1A314D}" type="pres">
      <dgm:prSet presAssocID="{FEDF5BFB-B7F5-48D0-8A28-176F99CA2D93}" presName="parTx" presStyleLbl="revTx" presStyleIdx="0" presStyleCnt="3">
        <dgm:presLayoutVars>
          <dgm:chMax val="0"/>
          <dgm:chPref val="0"/>
        </dgm:presLayoutVars>
      </dgm:prSet>
      <dgm:spPr/>
    </dgm:pt>
    <dgm:pt modelId="{D29844C3-A428-4F1D-AFAC-C1F0CDC2091C}" type="pres">
      <dgm:prSet presAssocID="{98CE3B5A-FD77-4A27-90E5-A9102823E1D5}" presName="sibTrans" presStyleCnt="0"/>
      <dgm:spPr/>
    </dgm:pt>
    <dgm:pt modelId="{2876AE2A-4532-48BA-8768-2AB01240207F}" type="pres">
      <dgm:prSet presAssocID="{A8EEFE12-0536-4B2C-B7A7-C7814CFF1EAE}" presName="compNode" presStyleCnt="0"/>
      <dgm:spPr/>
    </dgm:pt>
    <dgm:pt modelId="{CC1F57E1-1E84-4444-ACE8-EA714A9AC864}" type="pres">
      <dgm:prSet presAssocID="{A8EEFE12-0536-4B2C-B7A7-C7814CFF1EAE}" presName="bgRect" presStyleLbl="bgShp" presStyleIdx="1" presStyleCnt="3"/>
      <dgm:spPr/>
    </dgm:pt>
    <dgm:pt modelId="{DA3E1C5A-83B9-4B31-8158-B3B254152359}" type="pres">
      <dgm:prSet presAssocID="{A8EEFE12-0536-4B2C-B7A7-C7814CFF1EAE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Network diagram with solid fill"/>
        </a:ext>
      </dgm:extLst>
    </dgm:pt>
    <dgm:pt modelId="{6A1454E3-6370-4D49-9004-4B2A790B59CD}" type="pres">
      <dgm:prSet presAssocID="{A8EEFE12-0536-4B2C-B7A7-C7814CFF1EAE}" presName="spaceRect" presStyleCnt="0"/>
      <dgm:spPr/>
    </dgm:pt>
    <dgm:pt modelId="{1FAB67D1-1267-494F-9A28-55EFD35318E4}" type="pres">
      <dgm:prSet presAssocID="{A8EEFE12-0536-4B2C-B7A7-C7814CFF1EAE}" presName="parTx" presStyleLbl="revTx" presStyleIdx="1" presStyleCnt="3">
        <dgm:presLayoutVars>
          <dgm:chMax val="0"/>
          <dgm:chPref val="0"/>
        </dgm:presLayoutVars>
      </dgm:prSet>
      <dgm:spPr/>
    </dgm:pt>
    <dgm:pt modelId="{AD56078A-3A30-49B0-BB81-91F8B7C72AA4}" type="pres">
      <dgm:prSet presAssocID="{FCEBDF34-8F0C-4305-B9E4-3AC5F7F33208}" presName="sibTrans" presStyleCnt="0"/>
      <dgm:spPr/>
    </dgm:pt>
    <dgm:pt modelId="{6EDE4B49-9115-4CA8-8D65-57A2BAE172A7}" type="pres">
      <dgm:prSet presAssocID="{49AA32F1-28CC-4C70-BBBB-E90C41015DC4}" presName="compNode" presStyleCnt="0"/>
      <dgm:spPr/>
    </dgm:pt>
    <dgm:pt modelId="{C0C6D519-8989-486B-80BF-4E798EF94F83}" type="pres">
      <dgm:prSet presAssocID="{49AA32F1-28CC-4C70-BBBB-E90C41015DC4}" presName="bgRect" presStyleLbl="bgShp" presStyleIdx="2" presStyleCnt="3"/>
      <dgm:spPr/>
    </dgm:pt>
    <dgm:pt modelId="{7F502C67-89B6-4251-A220-A21F32579E33}" type="pres">
      <dgm:prSet presAssocID="{49AA32F1-28CC-4C70-BBBB-E90C41015DC4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Processor with solid fill"/>
        </a:ext>
      </dgm:extLst>
    </dgm:pt>
    <dgm:pt modelId="{7414010F-A893-448B-A37A-5523DF70AF82}" type="pres">
      <dgm:prSet presAssocID="{49AA32F1-28CC-4C70-BBBB-E90C41015DC4}" presName="spaceRect" presStyleCnt="0"/>
      <dgm:spPr/>
    </dgm:pt>
    <dgm:pt modelId="{DF453FD9-5A36-42C2-8C72-A09F655873E6}" type="pres">
      <dgm:prSet presAssocID="{49AA32F1-28CC-4C70-BBBB-E90C41015DC4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163F4C4F-A197-4DE4-9B80-56B30007230F}" type="presOf" srcId="{A8EEFE12-0536-4B2C-B7A7-C7814CFF1EAE}" destId="{1FAB67D1-1267-494F-9A28-55EFD35318E4}" srcOrd="0" destOrd="0" presId="urn:microsoft.com/office/officeart/2018/2/layout/IconVerticalSolidList"/>
    <dgm:cxn modelId="{34BF6B5F-4E68-4ED2-8715-BAD4366DAB84}" srcId="{95F7B0A1-AFDD-499B-9FFF-AB3F720B1C3C}" destId="{49AA32F1-28CC-4C70-BBBB-E90C41015DC4}" srcOrd="2" destOrd="0" parTransId="{39D8BD58-EDA6-43D8-84FF-5B023AB86FE0}" sibTransId="{249F9575-3170-4121-B700-78797441A683}"/>
    <dgm:cxn modelId="{7E2F5073-4827-4B64-8962-92E835DA08DB}" srcId="{95F7B0A1-AFDD-499B-9FFF-AB3F720B1C3C}" destId="{A8EEFE12-0536-4B2C-B7A7-C7814CFF1EAE}" srcOrd="1" destOrd="0" parTransId="{F6A90730-17B0-4238-946F-9AB02269A998}" sibTransId="{FCEBDF34-8F0C-4305-B9E4-3AC5F7F33208}"/>
    <dgm:cxn modelId="{C49731B1-AE02-4BF0-A156-C08923954BCE}" type="presOf" srcId="{95F7B0A1-AFDD-499B-9FFF-AB3F720B1C3C}" destId="{E1FA1037-EF85-4EF7-9D68-7E9EF4FA7B27}" srcOrd="0" destOrd="0" presId="urn:microsoft.com/office/officeart/2018/2/layout/IconVerticalSolidList"/>
    <dgm:cxn modelId="{9DC8BABF-5318-4FEF-B128-23AA735CF5FD}" type="presOf" srcId="{FEDF5BFB-B7F5-48D0-8A28-176F99CA2D93}" destId="{8491BE31-1D72-4272-8DEA-8D637D1A314D}" srcOrd="0" destOrd="0" presId="urn:microsoft.com/office/officeart/2018/2/layout/IconVerticalSolidList"/>
    <dgm:cxn modelId="{4A5640E0-9B5D-430A-9EA2-1833F99CE820}" srcId="{95F7B0A1-AFDD-499B-9FFF-AB3F720B1C3C}" destId="{FEDF5BFB-B7F5-48D0-8A28-176F99CA2D93}" srcOrd="0" destOrd="0" parTransId="{D67E3ED1-179E-462B-811A-652EF193AB76}" sibTransId="{98CE3B5A-FD77-4A27-90E5-A9102823E1D5}"/>
    <dgm:cxn modelId="{60EA1EE2-12F1-4481-9AB2-1AE642CEF921}" type="presOf" srcId="{49AA32F1-28CC-4C70-BBBB-E90C41015DC4}" destId="{DF453FD9-5A36-42C2-8C72-A09F655873E6}" srcOrd="0" destOrd="0" presId="urn:microsoft.com/office/officeart/2018/2/layout/IconVerticalSolidList"/>
    <dgm:cxn modelId="{05588886-6F16-49E7-A69E-8EA118A54CB7}" type="presParOf" srcId="{E1FA1037-EF85-4EF7-9D68-7E9EF4FA7B27}" destId="{4DBA5E2A-F8BC-4CD9-A13E-5893EC327946}" srcOrd="0" destOrd="0" presId="urn:microsoft.com/office/officeart/2018/2/layout/IconVerticalSolidList"/>
    <dgm:cxn modelId="{25A5D6E7-587D-46EF-B435-E5063C990E3B}" type="presParOf" srcId="{4DBA5E2A-F8BC-4CD9-A13E-5893EC327946}" destId="{A5F5C772-B470-41E3-A54E-0920A13ED364}" srcOrd="0" destOrd="0" presId="urn:microsoft.com/office/officeart/2018/2/layout/IconVerticalSolidList"/>
    <dgm:cxn modelId="{D6A9472E-962C-4B70-80D8-4F802B2ED3FC}" type="presParOf" srcId="{4DBA5E2A-F8BC-4CD9-A13E-5893EC327946}" destId="{F1F056BD-934D-4135-9FFD-298807978734}" srcOrd="1" destOrd="0" presId="urn:microsoft.com/office/officeart/2018/2/layout/IconVerticalSolidList"/>
    <dgm:cxn modelId="{E18E141E-C402-4B94-9DE0-122A8A6BF7A8}" type="presParOf" srcId="{4DBA5E2A-F8BC-4CD9-A13E-5893EC327946}" destId="{E3C6DAE3-C7EA-45DE-A8D1-35750AAC3768}" srcOrd="2" destOrd="0" presId="urn:microsoft.com/office/officeart/2018/2/layout/IconVerticalSolidList"/>
    <dgm:cxn modelId="{2B56B61C-C9BC-43D4-96DD-0E78608C7EC3}" type="presParOf" srcId="{4DBA5E2A-F8BC-4CD9-A13E-5893EC327946}" destId="{8491BE31-1D72-4272-8DEA-8D637D1A314D}" srcOrd="3" destOrd="0" presId="urn:microsoft.com/office/officeart/2018/2/layout/IconVerticalSolidList"/>
    <dgm:cxn modelId="{368C1B0D-8094-4EBB-9ECC-FBEC17B3767F}" type="presParOf" srcId="{E1FA1037-EF85-4EF7-9D68-7E9EF4FA7B27}" destId="{D29844C3-A428-4F1D-AFAC-C1F0CDC2091C}" srcOrd="1" destOrd="0" presId="urn:microsoft.com/office/officeart/2018/2/layout/IconVerticalSolidList"/>
    <dgm:cxn modelId="{F327F1EE-0DD9-4408-8C6D-9176227CBBD0}" type="presParOf" srcId="{E1FA1037-EF85-4EF7-9D68-7E9EF4FA7B27}" destId="{2876AE2A-4532-48BA-8768-2AB01240207F}" srcOrd="2" destOrd="0" presId="urn:microsoft.com/office/officeart/2018/2/layout/IconVerticalSolidList"/>
    <dgm:cxn modelId="{9745B7DA-5527-42F5-8B09-FC8A20FDDBFD}" type="presParOf" srcId="{2876AE2A-4532-48BA-8768-2AB01240207F}" destId="{CC1F57E1-1E84-4444-ACE8-EA714A9AC864}" srcOrd="0" destOrd="0" presId="urn:microsoft.com/office/officeart/2018/2/layout/IconVerticalSolidList"/>
    <dgm:cxn modelId="{E82387F5-ABE8-4EBA-BE11-B1BAD226E397}" type="presParOf" srcId="{2876AE2A-4532-48BA-8768-2AB01240207F}" destId="{DA3E1C5A-83B9-4B31-8158-B3B254152359}" srcOrd="1" destOrd="0" presId="urn:microsoft.com/office/officeart/2018/2/layout/IconVerticalSolidList"/>
    <dgm:cxn modelId="{6B8BCB71-4AF5-4525-A3FB-242657D17087}" type="presParOf" srcId="{2876AE2A-4532-48BA-8768-2AB01240207F}" destId="{6A1454E3-6370-4D49-9004-4B2A790B59CD}" srcOrd="2" destOrd="0" presId="urn:microsoft.com/office/officeart/2018/2/layout/IconVerticalSolidList"/>
    <dgm:cxn modelId="{BE3CF96D-DDCC-48D9-B42D-99350E82CA1B}" type="presParOf" srcId="{2876AE2A-4532-48BA-8768-2AB01240207F}" destId="{1FAB67D1-1267-494F-9A28-55EFD35318E4}" srcOrd="3" destOrd="0" presId="urn:microsoft.com/office/officeart/2018/2/layout/IconVerticalSolidList"/>
    <dgm:cxn modelId="{382E08B1-163A-45E6-BB53-953BB417B4A7}" type="presParOf" srcId="{E1FA1037-EF85-4EF7-9D68-7E9EF4FA7B27}" destId="{AD56078A-3A30-49B0-BB81-91F8B7C72AA4}" srcOrd="3" destOrd="0" presId="urn:microsoft.com/office/officeart/2018/2/layout/IconVerticalSolidList"/>
    <dgm:cxn modelId="{9BF52FE4-0B8D-4EA2-81DF-87CA021D0146}" type="presParOf" srcId="{E1FA1037-EF85-4EF7-9D68-7E9EF4FA7B27}" destId="{6EDE4B49-9115-4CA8-8D65-57A2BAE172A7}" srcOrd="4" destOrd="0" presId="urn:microsoft.com/office/officeart/2018/2/layout/IconVerticalSolidList"/>
    <dgm:cxn modelId="{AE8DBF6F-4EAE-44A9-B757-D4BDA2E11C2B}" type="presParOf" srcId="{6EDE4B49-9115-4CA8-8D65-57A2BAE172A7}" destId="{C0C6D519-8989-486B-80BF-4E798EF94F83}" srcOrd="0" destOrd="0" presId="urn:microsoft.com/office/officeart/2018/2/layout/IconVerticalSolidList"/>
    <dgm:cxn modelId="{CD8223D5-28EB-40E4-BA26-C68ED86168D6}" type="presParOf" srcId="{6EDE4B49-9115-4CA8-8D65-57A2BAE172A7}" destId="{7F502C67-89B6-4251-A220-A21F32579E33}" srcOrd="1" destOrd="0" presId="urn:microsoft.com/office/officeart/2018/2/layout/IconVerticalSolidList"/>
    <dgm:cxn modelId="{7CD4DE0F-EC76-43E3-A454-9D6FA24F3251}" type="presParOf" srcId="{6EDE4B49-9115-4CA8-8D65-57A2BAE172A7}" destId="{7414010F-A893-448B-A37A-5523DF70AF82}" srcOrd="2" destOrd="0" presId="urn:microsoft.com/office/officeart/2018/2/layout/IconVerticalSolidList"/>
    <dgm:cxn modelId="{6D089936-810E-40FA-8A39-194D24A54DBF}" type="presParOf" srcId="{6EDE4B49-9115-4CA8-8D65-57A2BAE172A7}" destId="{DF453FD9-5A36-42C2-8C72-A09F655873E6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5F5C772-B470-41E3-A54E-0920A13ED364}">
      <dsp:nvSpPr>
        <dsp:cNvPr id="0" name=""/>
        <dsp:cNvSpPr/>
      </dsp:nvSpPr>
      <dsp:spPr>
        <a:xfrm>
          <a:off x="0" y="519"/>
          <a:ext cx="10515600" cy="1214549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1F056BD-934D-4135-9FFD-298807978734}">
      <dsp:nvSpPr>
        <dsp:cNvPr id="0" name=""/>
        <dsp:cNvSpPr/>
      </dsp:nvSpPr>
      <dsp:spPr>
        <a:xfrm>
          <a:off x="367401" y="273792"/>
          <a:ext cx="668002" cy="668002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491BE31-1D72-4272-8DEA-8D637D1A314D}">
      <dsp:nvSpPr>
        <dsp:cNvPr id="0" name=""/>
        <dsp:cNvSpPr/>
      </dsp:nvSpPr>
      <dsp:spPr>
        <a:xfrm>
          <a:off x="1402804" y="519"/>
          <a:ext cx="9112795" cy="12145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8540" tIns="128540" rIns="128540" bIns="128540" numCol="1" spcCol="1270" anchor="ctr" anchorCtr="0">
          <a:noAutofit/>
        </a:bodyPr>
        <a:lstStyle/>
        <a:p>
          <a:pPr marL="0" lvl="0" indent="0" algn="l" defTabSz="10668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Task 1 : Hardware Design – The MAC Unit (Compute Core)</a:t>
          </a:r>
        </a:p>
      </dsp:txBody>
      <dsp:txXfrm>
        <a:off x="1402804" y="519"/>
        <a:ext cx="9112795" cy="1214549"/>
      </dsp:txXfrm>
    </dsp:sp>
    <dsp:sp modelId="{CC1F57E1-1E84-4444-ACE8-EA714A9AC864}">
      <dsp:nvSpPr>
        <dsp:cNvPr id="0" name=""/>
        <dsp:cNvSpPr/>
      </dsp:nvSpPr>
      <dsp:spPr>
        <a:xfrm>
          <a:off x="0" y="1518705"/>
          <a:ext cx="10515600" cy="1214549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A3E1C5A-83B9-4B31-8158-B3B254152359}">
      <dsp:nvSpPr>
        <dsp:cNvPr id="0" name=""/>
        <dsp:cNvSpPr/>
      </dsp:nvSpPr>
      <dsp:spPr>
        <a:xfrm>
          <a:off x="367401" y="1791978"/>
          <a:ext cx="668002" cy="668002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FAB67D1-1267-494F-9A28-55EFD35318E4}">
      <dsp:nvSpPr>
        <dsp:cNvPr id="0" name=""/>
        <dsp:cNvSpPr/>
      </dsp:nvSpPr>
      <dsp:spPr>
        <a:xfrm>
          <a:off x="1402804" y="1518705"/>
          <a:ext cx="9112795" cy="12145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8540" tIns="128540" rIns="128540" bIns="128540" numCol="1" spcCol="1270" anchor="ctr" anchorCtr="0">
          <a:noAutofit/>
        </a:bodyPr>
        <a:lstStyle/>
        <a:p>
          <a:pPr marL="0" lvl="0" indent="0" algn="l" defTabSz="10668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Task 2 : System Integration – Memory Mapped Interface</a:t>
          </a:r>
        </a:p>
      </dsp:txBody>
      <dsp:txXfrm>
        <a:off x="1402804" y="1518705"/>
        <a:ext cx="9112795" cy="1214549"/>
      </dsp:txXfrm>
    </dsp:sp>
    <dsp:sp modelId="{C0C6D519-8989-486B-80BF-4E798EF94F83}">
      <dsp:nvSpPr>
        <dsp:cNvPr id="0" name=""/>
        <dsp:cNvSpPr/>
      </dsp:nvSpPr>
      <dsp:spPr>
        <a:xfrm>
          <a:off x="0" y="3036891"/>
          <a:ext cx="10515600" cy="1214549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F502C67-89B6-4251-A220-A21F32579E33}">
      <dsp:nvSpPr>
        <dsp:cNvPr id="0" name=""/>
        <dsp:cNvSpPr/>
      </dsp:nvSpPr>
      <dsp:spPr>
        <a:xfrm>
          <a:off x="367401" y="3310165"/>
          <a:ext cx="668002" cy="668002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F453FD9-5A36-42C2-8C72-A09F655873E6}">
      <dsp:nvSpPr>
        <dsp:cNvPr id="0" name=""/>
        <dsp:cNvSpPr/>
      </dsp:nvSpPr>
      <dsp:spPr>
        <a:xfrm>
          <a:off x="1402804" y="3036891"/>
          <a:ext cx="9112795" cy="12145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8540" tIns="128540" rIns="128540" bIns="128540" numCol="1" spcCol="1270" anchor="ctr" anchorCtr="0">
          <a:noAutofit/>
        </a:bodyPr>
        <a:lstStyle/>
        <a:p>
          <a:pPr marL="0" lvl="0" indent="0" algn="l" defTabSz="10668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Task 3 : Processor Microarchitecture</a:t>
          </a:r>
        </a:p>
      </dsp:txBody>
      <dsp:txXfrm>
        <a:off x="1402804" y="3036891"/>
        <a:ext cx="9112795" cy="121454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15:18:44.589"/>
    </inkml:context>
    <inkml:brush xml:id="br0">
      <inkml:brushProperty name="width" value="0.025" units="cm"/>
      <inkml:brushProperty name="height" value="0.025" units="cm"/>
      <inkml:brushProperty name="color" value="#FFFFFF"/>
    </inkml:brush>
  </inkml:definitions>
  <inkml:trace contextRef="#ctx0" brushRef="#br0">181 0 24575,'0'4'0,"-1"1"0,-1 0 0,-1 1 0,-1-1 0,-1 1 0,1 1 0,-1-1 0,1-1 0,0 0 0,0 0 0,0 0 0,-2 4 0,-5 8 0,-5 8 0,-5 9 0,-3 5 0,3-4 0,4-5 0,5-9 0,5-8 0,4-6 0,1-3 0,2-3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EB95F86-F6F8-3842-A882-60577278DFBB}" type="datetimeFigureOut">
              <a:rPr lang="en-US" smtClean="0"/>
              <a:t>2/7/26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4BD9FAE-0FA4-A245-9E8C-02555B7049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55679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BD9FAE-0FA4-A245-9E8C-02555B7049FA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92858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BD9FAE-0FA4-A245-9E8C-02555B7049FA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92856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BD9FAE-0FA4-A245-9E8C-02555B7049FA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539008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75E1DD-35C2-8B3D-2E04-AB0078E3B5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D16D07-A419-073E-650E-C3A6D4316E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73341F2-6CAF-371B-20A2-EF80522ADA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C281E7-D853-AA9B-22BF-2E598B768B0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BD9FAE-0FA4-A245-9E8C-02555B7049FA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794986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61EDF3-4922-B232-EEEF-615F6DECAD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EEA9975-5EFF-DDE8-716E-775E15C78E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867821-592C-C88A-3C65-09ADB2A284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0ACC6B-A2CB-43BC-C528-A9D6D916CA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BD9FAE-0FA4-A245-9E8C-02555B7049FA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438849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2E7C39-6FC7-5351-89DA-26590BE9F6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CE8687-EA31-4CF0-DBBD-178D7ADE9E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E2C9BA6-8B53-BFC4-2856-55CED4BA18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3BCDFB-9B42-5B3E-E1EC-B3361CAF95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BD9FAE-0FA4-A245-9E8C-02555B7049FA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648982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2A84DB-C04F-1A4E-F906-77EDE4C2AA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D1BECA3-83BB-AFC6-6CE2-45E09077E60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47EC25E-F62A-5AED-6536-09B4971BD3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BB2728-ED2D-5660-9821-D68003566AF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BD9FAE-0FA4-A245-9E8C-02555B7049FA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856510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8DF1D7-32C5-D398-69D8-EE778E4161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59434B-F3E6-1123-7C4D-94415529D6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FA9A315-320F-D8D8-022F-6E2B3612DC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5DBB32-71C7-0451-82F4-65056B5B4D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BD9FAE-0FA4-A245-9E8C-02555B7049FA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084684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B1DB58-FDBB-7809-52C4-D68DF8F339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5A768CD-C6F3-0A6D-FA14-E8537E751D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7081D39-4B23-525A-9142-02D6E6441C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0F1435-91B8-B70A-8441-C8989A3DB6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BD9FAE-0FA4-A245-9E8C-02555B7049FA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902078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1F0984-DCCB-9C36-FFA1-6883B169A3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583E9D9-F48A-1581-8A2E-275BB370EF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135010-D7BF-C0D1-84D9-44307293E9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3AA202-91F1-EAF2-CC76-0E9C5978104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BD9FAE-0FA4-A245-9E8C-02555B7049FA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21032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84FE63-C55F-3A36-BCD3-1B05052BFC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EE21E2D-13F1-AFA1-F185-5CA8488F85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9728080-40AF-AAEB-FA6D-1532B0AB24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A15849-3B1A-D47D-FD72-2749E5AA9E6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BD9FAE-0FA4-A245-9E8C-02555B7049FA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56732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534195-46FF-D29F-C028-1E4D8C1227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B91A3A3-D45F-E35E-058E-A667C34E94E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376EAE-6FDB-B390-5EA9-3FD81B0677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A13BF3-0921-47CE-BA19-B8C924BC1F0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BD9FAE-0FA4-A245-9E8C-02555B7049FA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745578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DF2A96-B5A3-078A-5B47-DE7F5133BF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DF9E740-46D9-29A5-3DB4-D372FAB0DE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61EC92C-281B-64FC-BA02-2892C6F9BE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B45CF3-ECE3-8222-4C0C-300C6CD432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BD9FAE-0FA4-A245-9E8C-02555B7049FA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936806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7E62BF-984E-4CC5-91AA-995DAD8E38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311196-3862-8666-15E7-D92F78F130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4D06B51-C337-B941-C0B6-6C90273966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F79D53-DF90-2A0A-9230-3CA93A6E73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BD9FAE-0FA4-A245-9E8C-02555B7049FA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952862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34ED70-6126-2CD1-FB56-DC743882E5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17C5CE-6FEF-04C9-B52A-56F513B650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869BEA-1B57-E5D5-DC9D-CD5E49CBF2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1BFF30-B8F5-B4F1-438C-5D68F545279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BD9FAE-0FA4-A245-9E8C-02555B7049FA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592041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DDF045-27A3-B0AF-20C8-05E7760195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F3870FB-A897-331C-2754-3300C6C75B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61A309B-4E43-7063-A3EA-51557D00F1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FA6E8B-A1BA-1047-4A43-D8CA4F10F54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BD9FAE-0FA4-A245-9E8C-02555B7049FA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16624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BD0A77-0C30-FAF8-1F14-D70E1133C4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1DEC6C1-0497-FE1A-4134-51DE7758E18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9C710F-667A-0658-5849-8FE725957E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4C4888-2709-FB4B-9A0E-0F33131364BF}" type="datetimeFigureOut">
              <a:rPr lang="en-US" smtClean="0"/>
              <a:t>2/7/26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AE9A84-D4F1-C761-3D46-5932B782D6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09C162-39D0-772C-8CA3-5115394391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13B62B-0399-9244-A3AC-06D36569A4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80074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824088-0BAC-D198-6167-D0708F5E15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F85E1B-C691-814E-BF87-C78BB4C71F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8DE3C9-F956-19A2-2ABD-B597982CAA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4C4888-2709-FB4B-9A0E-0F33131364BF}" type="datetimeFigureOut">
              <a:rPr lang="en-US" smtClean="0"/>
              <a:t>2/7/26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716725-30B4-F303-74B5-3B0AC3F085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0F11261-1583-CE22-4266-EC29340C91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13B62B-0399-9244-A3AC-06D36569A4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32005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310EFB-C989-C7C6-B136-FF577E4F02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D3CEFB2-B016-92A0-CCE1-34EC30ADC9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7D9089-9081-73E5-F186-3515403D51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4C4888-2709-FB4B-9A0E-0F33131364BF}" type="datetimeFigureOut">
              <a:rPr lang="en-US" smtClean="0"/>
              <a:t>2/7/26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A60BA6-9A0D-62E7-5E94-BDF6C74E49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E8A47D-0CB4-5234-88B4-90B929CFB6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13B62B-0399-9244-A3AC-06D36569A4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21221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EB9EC9-ADA2-7029-F638-3DB3E0A958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047FEA-D521-C97E-163A-67ED7732E3E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FE27801-F11E-E917-8BCD-68DD0B6AAE6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3A7990-E360-3788-2453-600DC55AE6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4C4888-2709-FB4B-9A0E-0F33131364BF}" type="datetimeFigureOut">
              <a:rPr lang="en-US" smtClean="0"/>
              <a:t>2/7/26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2411A57-5D8D-7593-5FDB-8AA93EA8AE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DB62368-ECFF-D661-74FB-BBC7F4DB62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13B62B-0399-9244-A3AC-06D36569A4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6599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84C4B4-3B4E-7790-0E6C-DFBD44897F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7097775-E100-9840-87D1-14571F6AB8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9262AD5-327B-8007-8B2C-49B660925D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B08D868-9742-44E8-D716-9A35388B78B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D143987-D333-69B5-2BE3-F40C840FA52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5C5482C-E509-073C-360F-6CEB8BFB96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4C4888-2709-FB4B-9A0E-0F33131364BF}" type="datetimeFigureOut">
              <a:rPr lang="en-US" smtClean="0"/>
              <a:t>2/7/26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21E42E3-9AD2-D5FE-4DF2-38D46D6BA8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EA9D001-2999-A19C-9507-F54231E5A5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13B62B-0399-9244-A3AC-06D36569A4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12347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817096-4AC7-C521-9A34-D9C86C32C6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86F7EA3-DBC1-200B-C700-7981DB6E60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4C4888-2709-FB4B-9A0E-0F33131364BF}" type="datetimeFigureOut">
              <a:rPr lang="en-US" smtClean="0"/>
              <a:t>2/7/26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C05D221-C57F-7A62-64A9-8813A04F18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88515E8-02E5-B4A1-73D7-92E047D314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13B62B-0399-9244-A3AC-06D36569A4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0755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E701C6D-E33B-B349-E6BB-646E7E470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4C4888-2709-FB4B-9A0E-0F33131364BF}" type="datetimeFigureOut">
              <a:rPr lang="en-US" smtClean="0"/>
              <a:t>2/7/26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7761E34-877C-B4B7-5CB4-11C5B10CEE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03CB54-6702-D211-1BB2-0515289FBB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13B62B-0399-9244-A3AC-06D36569A4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1165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67870A-590B-1E3D-BB40-3C85F1B82A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9C015C-B459-DFF4-1B62-D173D10997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EF389E8-92F1-7686-9787-BD6E0181B9A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6789513-6B75-F1E6-D608-40E1B12C96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4C4888-2709-FB4B-9A0E-0F33131364BF}" type="datetimeFigureOut">
              <a:rPr lang="en-US" smtClean="0"/>
              <a:t>2/7/26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0B0E6B7-9A31-A547-38E8-6A53241FF2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10E8D06-C958-FC4F-4F30-F6073BE9BB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13B62B-0399-9244-A3AC-06D36569A4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43925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4484F9-6B8C-80C9-9F24-2E2299CA41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D79C540-4BDF-F053-07E7-66F73FDEF6C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191A0E9-50BD-78BC-8292-4EB88E8B08B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EF3898-A1F6-9DD4-8FBB-D80AC42E25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4C4888-2709-FB4B-9A0E-0F33131364BF}" type="datetimeFigureOut">
              <a:rPr lang="en-US" smtClean="0"/>
              <a:t>2/7/26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30DC8F-CA14-FD52-D064-1E950D387B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F4143ED-4C0A-3F1F-6DAA-08C2A424D9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13B62B-0399-9244-A3AC-06D36569A4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26544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235068-E28F-D956-B892-49AD4F93E4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35DE1A0-F890-44C4-1F66-D3575E0D229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4841EE-A84D-C8F6-7D83-80FFD2111E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4C4888-2709-FB4B-9A0E-0F33131364BF}" type="datetimeFigureOut">
              <a:rPr lang="en-US" smtClean="0"/>
              <a:t>2/7/26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55391B-3E15-62F1-FFC4-7CCA52B9DB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EAF959-E78E-9BF5-CBFE-75F6394A02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13B62B-0399-9244-A3AC-06D36569A4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23391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B9E29D6-9A0D-4714-A501-9A729307CC2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5C5346C-0858-156F-CB14-1317A120711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2993C1-BEA4-2C23-EF61-78C8D0A822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4C4888-2709-FB4B-9A0E-0F33131364BF}" type="datetimeFigureOut">
              <a:rPr lang="en-US" smtClean="0"/>
              <a:t>2/7/26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78C3CC-2DB7-4D7D-317C-6B36A65C95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BECA41-26FD-8D8F-41B6-287BEF6D7F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13B62B-0399-9244-A3AC-06D36569A4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28772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5C5CFDA-5CBB-FA2E-1CC7-CCDFDF0067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D88C189-7105-6EB2-4127-22CB36734A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DF67EC-C747-078E-3998-6B8CBD92C66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24C4888-2709-FB4B-9A0E-0F33131364BF}" type="datetimeFigureOut">
              <a:rPr lang="en-US" smtClean="0"/>
              <a:t>2/7/26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124BC6-189D-1DBD-05FA-CB9233A6F63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DBA03B-7C43-D984-CDA8-77441420DE0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413B62B-0399-9244-A3AC-06D36569A4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94448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98" r:id="rId1"/>
    <p:sldLayoutId id="2147483899" r:id="rId2"/>
    <p:sldLayoutId id="2147483900" r:id="rId3"/>
    <p:sldLayoutId id="2147483901" r:id="rId4"/>
    <p:sldLayoutId id="2147483902" r:id="rId5"/>
    <p:sldLayoutId id="2147483903" r:id="rId6"/>
    <p:sldLayoutId id="2147483904" r:id="rId7"/>
    <p:sldLayoutId id="2147483905" r:id="rId8"/>
    <p:sldLayoutId id="2147483906" r:id="rId9"/>
    <p:sldLayoutId id="2147483907" r:id="rId10"/>
    <p:sldLayoutId id="2147483908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customXml" Target="../ink/ink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://github.com/varunposimsetty" TargetMode="External"/><Relationship Id="rId2" Type="http://schemas.openxmlformats.org/officeDocument/2006/relationships/hyperlink" Target="http://varunposimsetty@gmail.com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943CAA20-3569-4189-9E48-239A229A86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B81D282-E7AC-DA1B-5C2D-6C60EC249F4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3502152"/>
            <a:ext cx="8817078" cy="1863311"/>
          </a:xfrm>
        </p:spPr>
        <p:txBody>
          <a:bodyPr anchor="b">
            <a:normAutofit fontScale="90000"/>
          </a:bodyPr>
          <a:lstStyle/>
          <a:p>
            <a:pPr algn="l"/>
            <a:br>
              <a:rPr lang="en-US" sz="6600" dirty="0"/>
            </a:br>
            <a:br>
              <a:rPr lang="en-US" sz="6600" dirty="0"/>
            </a:br>
            <a:br>
              <a:rPr lang="en-US" sz="6600" dirty="0"/>
            </a:br>
            <a:br>
              <a:rPr lang="en-US" sz="6600" dirty="0"/>
            </a:br>
            <a:br>
              <a:rPr lang="en-US" sz="6600" dirty="0"/>
            </a:br>
            <a:br>
              <a:rPr lang="en-US" sz="6600" dirty="0"/>
            </a:br>
            <a:br>
              <a:rPr lang="en-US" sz="6600" dirty="0"/>
            </a:br>
            <a:br>
              <a:rPr lang="en-US" sz="6600" dirty="0"/>
            </a:br>
            <a:r>
              <a:rPr lang="en-US" sz="6600" dirty="0"/>
              <a:t>Task Assignment Presentation</a:t>
            </a:r>
            <a:br>
              <a:rPr lang="en-US" sz="6600" dirty="0"/>
            </a:br>
            <a:endParaRPr lang="en-US" sz="66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4416BD6-30C8-9B61-BEF8-FFEF52E0F8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199" y="4983276"/>
            <a:ext cx="10512552" cy="1598630"/>
          </a:xfrm>
        </p:spPr>
        <p:txBody>
          <a:bodyPr>
            <a:noAutofit/>
          </a:bodyPr>
          <a:lstStyle/>
          <a:p>
            <a:pPr algn="l"/>
            <a:r>
              <a:rPr lang="en-US" dirty="0"/>
              <a:t>Varun Srinivas Posimsetty</a:t>
            </a:r>
          </a:p>
          <a:p>
            <a:pPr algn="l"/>
            <a:r>
              <a:rPr lang="en-US" dirty="0"/>
              <a:t>M.Sc. Integrated Circuit Design </a:t>
            </a:r>
            <a:r>
              <a:rPr lang="en-SG" dirty="0"/>
              <a:t>(TUM &amp; NTU)</a:t>
            </a:r>
            <a:r>
              <a:rPr lang="en-US" dirty="0"/>
              <a:t> </a:t>
            </a:r>
          </a:p>
          <a:p>
            <a:pPr algn="l"/>
            <a:r>
              <a:rPr lang="en-SG" dirty="0"/>
              <a:t>Interview for: Junior Scientist – Edge-AI Accelerators</a:t>
            </a:r>
            <a:endParaRPr lang="en-US" dirty="0"/>
          </a:p>
        </p:txBody>
      </p:sp>
      <p:sp>
        <p:nvSpPr>
          <p:cNvPr id="21" name="sketch line">
            <a:extLst>
              <a:ext uri="{FF2B5EF4-FFF2-40B4-BE49-F238E27FC236}">
                <a16:creationId xmlns:a16="http://schemas.microsoft.com/office/drawing/2014/main" id="{DA542B6D-E775-4832-91DC-2D20F85781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38200" y="4718595"/>
            <a:ext cx="5410200" cy="18288"/>
          </a:xfrm>
          <a:custGeom>
            <a:avLst/>
            <a:gdLst>
              <a:gd name="csX0" fmla="*/ 0 w 5410200"/>
              <a:gd name="csY0" fmla="*/ 0 h 18288"/>
              <a:gd name="csX1" fmla="*/ 568071 w 5410200"/>
              <a:gd name="csY1" fmla="*/ 0 h 18288"/>
              <a:gd name="csX2" fmla="*/ 1298448 w 5410200"/>
              <a:gd name="csY2" fmla="*/ 0 h 18288"/>
              <a:gd name="csX3" fmla="*/ 1920621 w 5410200"/>
              <a:gd name="csY3" fmla="*/ 0 h 18288"/>
              <a:gd name="csX4" fmla="*/ 2488692 w 5410200"/>
              <a:gd name="csY4" fmla="*/ 0 h 18288"/>
              <a:gd name="csX5" fmla="*/ 3219069 w 5410200"/>
              <a:gd name="csY5" fmla="*/ 0 h 18288"/>
              <a:gd name="csX6" fmla="*/ 3895344 w 5410200"/>
              <a:gd name="csY6" fmla="*/ 0 h 18288"/>
              <a:gd name="csX7" fmla="*/ 4571619 w 5410200"/>
              <a:gd name="csY7" fmla="*/ 0 h 18288"/>
              <a:gd name="csX8" fmla="*/ 5410200 w 5410200"/>
              <a:gd name="csY8" fmla="*/ 0 h 18288"/>
              <a:gd name="csX9" fmla="*/ 5410200 w 5410200"/>
              <a:gd name="csY9" fmla="*/ 18288 h 18288"/>
              <a:gd name="csX10" fmla="*/ 4842129 w 5410200"/>
              <a:gd name="csY10" fmla="*/ 18288 h 18288"/>
              <a:gd name="csX11" fmla="*/ 4328160 w 5410200"/>
              <a:gd name="csY11" fmla="*/ 18288 h 18288"/>
              <a:gd name="csX12" fmla="*/ 3597783 w 5410200"/>
              <a:gd name="csY12" fmla="*/ 18288 h 18288"/>
              <a:gd name="csX13" fmla="*/ 3029712 w 5410200"/>
              <a:gd name="csY13" fmla="*/ 18288 h 18288"/>
              <a:gd name="csX14" fmla="*/ 2299335 w 5410200"/>
              <a:gd name="csY14" fmla="*/ 18288 h 18288"/>
              <a:gd name="csX15" fmla="*/ 1514856 w 5410200"/>
              <a:gd name="csY15" fmla="*/ 18288 h 18288"/>
              <a:gd name="csX16" fmla="*/ 892683 w 5410200"/>
              <a:gd name="csY16" fmla="*/ 18288 h 18288"/>
              <a:gd name="csX17" fmla="*/ 0 w 5410200"/>
              <a:gd name="csY17" fmla="*/ 18288 h 18288"/>
              <a:gd name="csX18" fmla="*/ 0 w 5410200"/>
              <a:gd name="csY18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</a:cxnLst>
            <a:rect l="l" t="t" r="r" b="b"/>
            <a:pathLst>
              <a:path w="5410200" h="18288" fill="none" extrusionOk="0">
                <a:moveTo>
                  <a:pt x="0" y="0"/>
                </a:moveTo>
                <a:cubicBezTo>
                  <a:pt x="163050" y="-18707"/>
                  <a:pt x="319321" y="-16364"/>
                  <a:pt x="568071" y="0"/>
                </a:cubicBezTo>
                <a:cubicBezTo>
                  <a:pt x="816821" y="16364"/>
                  <a:pt x="1013224" y="-7268"/>
                  <a:pt x="1298448" y="0"/>
                </a:cubicBezTo>
                <a:cubicBezTo>
                  <a:pt x="1583672" y="7268"/>
                  <a:pt x="1631711" y="-3367"/>
                  <a:pt x="1920621" y="0"/>
                </a:cubicBezTo>
                <a:cubicBezTo>
                  <a:pt x="2209531" y="3367"/>
                  <a:pt x="2364420" y="-19184"/>
                  <a:pt x="2488692" y="0"/>
                </a:cubicBezTo>
                <a:cubicBezTo>
                  <a:pt x="2612964" y="19184"/>
                  <a:pt x="3023298" y="-34627"/>
                  <a:pt x="3219069" y="0"/>
                </a:cubicBezTo>
                <a:cubicBezTo>
                  <a:pt x="3414840" y="34627"/>
                  <a:pt x="3656810" y="24043"/>
                  <a:pt x="3895344" y="0"/>
                </a:cubicBezTo>
                <a:cubicBezTo>
                  <a:pt x="4133879" y="-24043"/>
                  <a:pt x="4393984" y="-19577"/>
                  <a:pt x="4571619" y="0"/>
                </a:cubicBezTo>
                <a:cubicBezTo>
                  <a:pt x="4749255" y="19577"/>
                  <a:pt x="5179928" y="-6281"/>
                  <a:pt x="5410200" y="0"/>
                </a:cubicBezTo>
                <a:cubicBezTo>
                  <a:pt x="5410730" y="6954"/>
                  <a:pt x="5410934" y="12839"/>
                  <a:pt x="5410200" y="18288"/>
                </a:cubicBezTo>
                <a:cubicBezTo>
                  <a:pt x="5139060" y="6751"/>
                  <a:pt x="5121593" y="31035"/>
                  <a:pt x="4842129" y="18288"/>
                </a:cubicBezTo>
                <a:cubicBezTo>
                  <a:pt x="4562665" y="5541"/>
                  <a:pt x="4448273" y="9487"/>
                  <a:pt x="4328160" y="18288"/>
                </a:cubicBezTo>
                <a:cubicBezTo>
                  <a:pt x="4208047" y="27089"/>
                  <a:pt x="3760936" y="22567"/>
                  <a:pt x="3597783" y="18288"/>
                </a:cubicBezTo>
                <a:cubicBezTo>
                  <a:pt x="3434630" y="14009"/>
                  <a:pt x="3299718" y="33213"/>
                  <a:pt x="3029712" y="18288"/>
                </a:cubicBezTo>
                <a:cubicBezTo>
                  <a:pt x="2759706" y="3363"/>
                  <a:pt x="2640159" y="27394"/>
                  <a:pt x="2299335" y="18288"/>
                </a:cubicBezTo>
                <a:cubicBezTo>
                  <a:pt x="1958511" y="9182"/>
                  <a:pt x="1801186" y="28985"/>
                  <a:pt x="1514856" y="18288"/>
                </a:cubicBezTo>
                <a:cubicBezTo>
                  <a:pt x="1228526" y="7591"/>
                  <a:pt x="1063509" y="-5305"/>
                  <a:pt x="892683" y="18288"/>
                </a:cubicBezTo>
                <a:cubicBezTo>
                  <a:pt x="721857" y="41881"/>
                  <a:pt x="186945" y="-20897"/>
                  <a:pt x="0" y="18288"/>
                </a:cubicBezTo>
                <a:cubicBezTo>
                  <a:pt x="-570" y="9279"/>
                  <a:pt x="132" y="5100"/>
                  <a:pt x="0" y="0"/>
                </a:cubicBezTo>
                <a:close/>
              </a:path>
              <a:path w="5410200" h="18288" stroke="0" extrusionOk="0">
                <a:moveTo>
                  <a:pt x="0" y="0"/>
                </a:moveTo>
                <a:cubicBezTo>
                  <a:pt x="285096" y="-4925"/>
                  <a:pt x="376456" y="22268"/>
                  <a:pt x="622173" y="0"/>
                </a:cubicBezTo>
                <a:cubicBezTo>
                  <a:pt x="867890" y="-22268"/>
                  <a:pt x="1031392" y="7228"/>
                  <a:pt x="1136142" y="0"/>
                </a:cubicBezTo>
                <a:cubicBezTo>
                  <a:pt x="1240892" y="-7228"/>
                  <a:pt x="1561853" y="9877"/>
                  <a:pt x="1920621" y="0"/>
                </a:cubicBezTo>
                <a:cubicBezTo>
                  <a:pt x="2279389" y="-9877"/>
                  <a:pt x="2367255" y="19546"/>
                  <a:pt x="2542794" y="0"/>
                </a:cubicBezTo>
                <a:cubicBezTo>
                  <a:pt x="2718333" y="-19546"/>
                  <a:pt x="2866732" y="-22226"/>
                  <a:pt x="3164967" y="0"/>
                </a:cubicBezTo>
                <a:cubicBezTo>
                  <a:pt x="3463202" y="22226"/>
                  <a:pt x="3568055" y="-2765"/>
                  <a:pt x="3949446" y="0"/>
                </a:cubicBezTo>
                <a:cubicBezTo>
                  <a:pt x="4330837" y="2765"/>
                  <a:pt x="4287895" y="10557"/>
                  <a:pt x="4517517" y="0"/>
                </a:cubicBezTo>
                <a:cubicBezTo>
                  <a:pt x="4747139" y="-10557"/>
                  <a:pt x="5149588" y="8716"/>
                  <a:pt x="5410200" y="0"/>
                </a:cubicBezTo>
                <a:cubicBezTo>
                  <a:pt x="5409517" y="5414"/>
                  <a:pt x="5409480" y="12510"/>
                  <a:pt x="5410200" y="18288"/>
                </a:cubicBezTo>
                <a:cubicBezTo>
                  <a:pt x="5163327" y="41494"/>
                  <a:pt x="5008749" y="10693"/>
                  <a:pt x="4842129" y="18288"/>
                </a:cubicBezTo>
                <a:cubicBezTo>
                  <a:pt x="4675509" y="25883"/>
                  <a:pt x="4433401" y="-615"/>
                  <a:pt x="4165854" y="18288"/>
                </a:cubicBezTo>
                <a:cubicBezTo>
                  <a:pt x="3898308" y="37191"/>
                  <a:pt x="3809032" y="-8710"/>
                  <a:pt x="3543681" y="18288"/>
                </a:cubicBezTo>
                <a:cubicBezTo>
                  <a:pt x="3278330" y="45286"/>
                  <a:pt x="3073876" y="-15917"/>
                  <a:pt x="2759202" y="18288"/>
                </a:cubicBezTo>
                <a:cubicBezTo>
                  <a:pt x="2444528" y="52493"/>
                  <a:pt x="2204144" y="3372"/>
                  <a:pt x="1974723" y="18288"/>
                </a:cubicBezTo>
                <a:cubicBezTo>
                  <a:pt x="1745302" y="33204"/>
                  <a:pt x="1602335" y="31490"/>
                  <a:pt x="1406652" y="18288"/>
                </a:cubicBezTo>
                <a:cubicBezTo>
                  <a:pt x="1210969" y="5086"/>
                  <a:pt x="923948" y="3161"/>
                  <a:pt x="730377" y="18288"/>
                </a:cubicBezTo>
                <a:cubicBezTo>
                  <a:pt x="536806" y="33415"/>
                  <a:pt x="336496" y="-141"/>
                  <a:pt x="0" y="18288"/>
                </a:cubicBezTo>
                <a:cubicBezTo>
                  <a:pt x="-306" y="11061"/>
                  <a:pt x="-655" y="7751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70767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B77ED36-E037-6ED0-60CF-2B57E6A7FA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 b="1" dirty="0"/>
              <a:t>Presentation Overview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sX0" fmla="*/ 0 w 10853928"/>
              <a:gd name="csY0" fmla="*/ 0 h 18288"/>
              <a:gd name="csX1" fmla="*/ 461292 w 10853928"/>
              <a:gd name="csY1" fmla="*/ 0 h 18288"/>
              <a:gd name="csX2" fmla="*/ 1139662 w 10853928"/>
              <a:gd name="csY2" fmla="*/ 0 h 18288"/>
              <a:gd name="csX3" fmla="*/ 1926572 w 10853928"/>
              <a:gd name="csY3" fmla="*/ 0 h 18288"/>
              <a:gd name="csX4" fmla="*/ 2279325 w 10853928"/>
              <a:gd name="csY4" fmla="*/ 0 h 18288"/>
              <a:gd name="csX5" fmla="*/ 2632078 w 10853928"/>
              <a:gd name="csY5" fmla="*/ 0 h 18288"/>
              <a:gd name="csX6" fmla="*/ 3527527 w 10853928"/>
              <a:gd name="csY6" fmla="*/ 0 h 18288"/>
              <a:gd name="csX7" fmla="*/ 4205897 w 10853928"/>
              <a:gd name="csY7" fmla="*/ 0 h 18288"/>
              <a:gd name="csX8" fmla="*/ 4558650 w 10853928"/>
              <a:gd name="csY8" fmla="*/ 0 h 18288"/>
              <a:gd name="csX9" fmla="*/ 5237020 w 10853928"/>
              <a:gd name="csY9" fmla="*/ 0 h 18288"/>
              <a:gd name="csX10" fmla="*/ 6132469 w 10853928"/>
              <a:gd name="csY10" fmla="*/ 0 h 18288"/>
              <a:gd name="csX11" fmla="*/ 6702301 w 10853928"/>
              <a:gd name="csY11" fmla="*/ 0 h 18288"/>
              <a:gd name="csX12" fmla="*/ 7272132 w 10853928"/>
              <a:gd name="csY12" fmla="*/ 0 h 18288"/>
              <a:gd name="csX13" fmla="*/ 7950502 w 10853928"/>
              <a:gd name="csY13" fmla="*/ 0 h 18288"/>
              <a:gd name="csX14" fmla="*/ 8737412 w 10853928"/>
              <a:gd name="csY14" fmla="*/ 0 h 18288"/>
              <a:gd name="csX15" fmla="*/ 9524322 w 10853928"/>
              <a:gd name="csY15" fmla="*/ 0 h 18288"/>
              <a:gd name="csX16" fmla="*/ 10853928 w 10853928"/>
              <a:gd name="csY16" fmla="*/ 0 h 18288"/>
              <a:gd name="csX17" fmla="*/ 10853928 w 10853928"/>
              <a:gd name="csY17" fmla="*/ 18288 h 18288"/>
              <a:gd name="csX18" fmla="*/ 10392636 w 10853928"/>
              <a:gd name="csY18" fmla="*/ 18288 h 18288"/>
              <a:gd name="csX19" fmla="*/ 9497187 w 10853928"/>
              <a:gd name="csY19" fmla="*/ 18288 h 18288"/>
              <a:gd name="csX20" fmla="*/ 8818817 w 10853928"/>
              <a:gd name="csY20" fmla="*/ 18288 h 18288"/>
              <a:gd name="csX21" fmla="*/ 8466064 w 10853928"/>
              <a:gd name="csY21" fmla="*/ 18288 h 18288"/>
              <a:gd name="csX22" fmla="*/ 7787693 w 10853928"/>
              <a:gd name="csY22" fmla="*/ 18288 h 18288"/>
              <a:gd name="csX23" fmla="*/ 7217862 w 10853928"/>
              <a:gd name="csY23" fmla="*/ 18288 h 18288"/>
              <a:gd name="csX24" fmla="*/ 6648031 w 10853928"/>
              <a:gd name="csY24" fmla="*/ 18288 h 18288"/>
              <a:gd name="csX25" fmla="*/ 6078200 w 10853928"/>
              <a:gd name="csY25" fmla="*/ 18288 h 18288"/>
              <a:gd name="csX26" fmla="*/ 5508368 w 10853928"/>
              <a:gd name="csY26" fmla="*/ 18288 h 18288"/>
              <a:gd name="csX27" fmla="*/ 4721459 w 10853928"/>
              <a:gd name="csY27" fmla="*/ 18288 h 18288"/>
              <a:gd name="csX28" fmla="*/ 4043088 w 10853928"/>
              <a:gd name="csY28" fmla="*/ 18288 h 18288"/>
              <a:gd name="csX29" fmla="*/ 3690336 w 10853928"/>
              <a:gd name="csY29" fmla="*/ 18288 h 18288"/>
              <a:gd name="csX30" fmla="*/ 3120504 w 10853928"/>
              <a:gd name="csY30" fmla="*/ 18288 h 18288"/>
              <a:gd name="csX31" fmla="*/ 2333595 w 10853928"/>
              <a:gd name="csY31" fmla="*/ 18288 h 18288"/>
              <a:gd name="csX32" fmla="*/ 1872303 w 10853928"/>
              <a:gd name="csY32" fmla="*/ 18288 h 18288"/>
              <a:gd name="csX33" fmla="*/ 976854 w 10853928"/>
              <a:gd name="csY33" fmla="*/ 18288 h 18288"/>
              <a:gd name="csX34" fmla="*/ 0 w 10853928"/>
              <a:gd name="csY34" fmla="*/ 18288 h 18288"/>
              <a:gd name="csX35" fmla="*/ 0 w 10853928"/>
              <a:gd name="csY35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4" name="Content Placeholder 2">
            <a:extLst>
              <a:ext uri="{FF2B5EF4-FFF2-40B4-BE49-F238E27FC236}">
                <a16:creationId xmlns:a16="http://schemas.microsoft.com/office/drawing/2014/main" id="{BCFF1019-9EAD-937A-D986-23109F128CA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32497943"/>
              </p:ext>
            </p:extLst>
          </p:nvPr>
        </p:nvGraphicFramePr>
        <p:xfrm>
          <a:off x="838200" y="1929384"/>
          <a:ext cx="10515600" cy="42519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6293889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3B5D2DC-7544-E275-2A1C-E5B225CE1E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F13C74B1-5B17-4795-BED0-7140497B44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8E3BF07-71D7-D858-83C7-9108AC4EDA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151742"/>
            <a:ext cx="9715204" cy="1109883"/>
          </a:xfrm>
        </p:spPr>
        <p:txBody>
          <a:bodyPr anchor="b">
            <a:normAutofit/>
          </a:bodyPr>
          <a:lstStyle/>
          <a:p>
            <a:r>
              <a:rPr lang="en-US" sz="3000" b="1" dirty="0"/>
              <a:t>Task 1 : Hardware Design – The MAC Unit (Compute Core)</a:t>
            </a:r>
          </a:p>
        </p:txBody>
      </p:sp>
      <p:sp>
        <p:nvSpPr>
          <p:cNvPr id="27" name="sketchy line">
            <a:extLst>
              <a:ext uri="{FF2B5EF4-FFF2-40B4-BE49-F238E27FC236}">
                <a16:creationId xmlns:a16="http://schemas.microsoft.com/office/drawing/2014/main" id="{D4974D33-8DC5-464E-8C6D-BE58F0669C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80" y="2586994"/>
            <a:ext cx="3474720" cy="18288"/>
          </a:xfrm>
          <a:custGeom>
            <a:avLst/>
            <a:gdLst>
              <a:gd name="csX0" fmla="*/ 0 w 3474720"/>
              <a:gd name="csY0" fmla="*/ 0 h 18288"/>
              <a:gd name="csX1" fmla="*/ 694944 w 3474720"/>
              <a:gd name="csY1" fmla="*/ 0 h 18288"/>
              <a:gd name="csX2" fmla="*/ 1355141 w 3474720"/>
              <a:gd name="csY2" fmla="*/ 0 h 18288"/>
              <a:gd name="csX3" fmla="*/ 2015338 w 3474720"/>
              <a:gd name="csY3" fmla="*/ 0 h 18288"/>
              <a:gd name="csX4" fmla="*/ 2779776 w 3474720"/>
              <a:gd name="csY4" fmla="*/ 0 h 18288"/>
              <a:gd name="csX5" fmla="*/ 3474720 w 3474720"/>
              <a:gd name="csY5" fmla="*/ 0 h 18288"/>
              <a:gd name="csX6" fmla="*/ 3474720 w 3474720"/>
              <a:gd name="csY6" fmla="*/ 18288 h 18288"/>
              <a:gd name="csX7" fmla="*/ 2779776 w 3474720"/>
              <a:gd name="csY7" fmla="*/ 18288 h 18288"/>
              <a:gd name="csX8" fmla="*/ 2189074 w 3474720"/>
              <a:gd name="csY8" fmla="*/ 18288 h 18288"/>
              <a:gd name="csX9" fmla="*/ 1528877 w 3474720"/>
              <a:gd name="csY9" fmla="*/ 18288 h 18288"/>
              <a:gd name="csX10" fmla="*/ 868680 w 3474720"/>
              <a:gd name="csY10" fmla="*/ 18288 h 18288"/>
              <a:gd name="csX11" fmla="*/ 0 w 3474720"/>
              <a:gd name="csY11" fmla="*/ 18288 h 18288"/>
              <a:gd name="csX12" fmla="*/ 0 w 347472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474720" h="18288" fill="none" extrusionOk="0">
                <a:moveTo>
                  <a:pt x="0" y="0"/>
                </a:moveTo>
                <a:cubicBezTo>
                  <a:pt x="224454" y="-14544"/>
                  <a:pt x="495407" y="26540"/>
                  <a:pt x="694944" y="0"/>
                </a:cubicBezTo>
                <a:cubicBezTo>
                  <a:pt x="894481" y="-26540"/>
                  <a:pt x="1130063" y="24713"/>
                  <a:pt x="1355141" y="0"/>
                </a:cubicBezTo>
                <a:cubicBezTo>
                  <a:pt x="1580219" y="-24713"/>
                  <a:pt x="1820099" y="26695"/>
                  <a:pt x="2015338" y="0"/>
                </a:cubicBezTo>
                <a:cubicBezTo>
                  <a:pt x="2210577" y="-26695"/>
                  <a:pt x="2402045" y="165"/>
                  <a:pt x="2779776" y="0"/>
                </a:cubicBezTo>
                <a:cubicBezTo>
                  <a:pt x="3157507" y="-165"/>
                  <a:pt x="3286859" y="-15571"/>
                  <a:pt x="3474720" y="0"/>
                </a:cubicBezTo>
                <a:cubicBezTo>
                  <a:pt x="3474286" y="7551"/>
                  <a:pt x="3474253" y="9822"/>
                  <a:pt x="3474720" y="18288"/>
                </a:cubicBezTo>
                <a:cubicBezTo>
                  <a:pt x="3233904" y="29845"/>
                  <a:pt x="2945134" y="-5256"/>
                  <a:pt x="2779776" y="18288"/>
                </a:cubicBezTo>
                <a:cubicBezTo>
                  <a:pt x="2614418" y="41832"/>
                  <a:pt x="2339768" y="22709"/>
                  <a:pt x="2189074" y="18288"/>
                </a:cubicBezTo>
                <a:cubicBezTo>
                  <a:pt x="2038380" y="13867"/>
                  <a:pt x="1817434" y="-4947"/>
                  <a:pt x="1528877" y="18288"/>
                </a:cubicBezTo>
                <a:cubicBezTo>
                  <a:pt x="1240320" y="41523"/>
                  <a:pt x="1042447" y="37198"/>
                  <a:pt x="868680" y="18288"/>
                </a:cubicBezTo>
                <a:cubicBezTo>
                  <a:pt x="694913" y="-622"/>
                  <a:pt x="233232" y="44909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474720" h="18288" stroke="0" extrusionOk="0">
                <a:moveTo>
                  <a:pt x="0" y="0"/>
                </a:moveTo>
                <a:cubicBezTo>
                  <a:pt x="202328" y="-14716"/>
                  <a:pt x="332722" y="-11499"/>
                  <a:pt x="625450" y="0"/>
                </a:cubicBezTo>
                <a:cubicBezTo>
                  <a:pt x="918178" y="11499"/>
                  <a:pt x="1096688" y="5123"/>
                  <a:pt x="1389888" y="0"/>
                </a:cubicBezTo>
                <a:cubicBezTo>
                  <a:pt x="1683088" y="-5123"/>
                  <a:pt x="1835981" y="-14038"/>
                  <a:pt x="1980590" y="0"/>
                </a:cubicBezTo>
                <a:cubicBezTo>
                  <a:pt x="2125199" y="14038"/>
                  <a:pt x="2396099" y="-7203"/>
                  <a:pt x="2571293" y="0"/>
                </a:cubicBezTo>
                <a:cubicBezTo>
                  <a:pt x="2746487" y="7203"/>
                  <a:pt x="3041609" y="-12036"/>
                  <a:pt x="3474720" y="0"/>
                </a:cubicBezTo>
                <a:cubicBezTo>
                  <a:pt x="3474638" y="4406"/>
                  <a:pt x="3474631" y="9982"/>
                  <a:pt x="3474720" y="18288"/>
                </a:cubicBezTo>
                <a:cubicBezTo>
                  <a:pt x="3324873" y="21876"/>
                  <a:pt x="3136771" y="12587"/>
                  <a:pt x="2814523" y="18288"/>
                </a:cubicBezTo>
                <a:cubicBezTo>
                  <a:pt x="2492275" y="23989"/>
                  <a:pt x="2294402" y="47111"/>
                  <a:pt x="2154326" y="18288"/>
                </a:cubicBezTo>
                <a:cubicBezTo>
                  <a:pt x="2014250" y="-10535"/>
                  <a:pt x="1820317" y="33903"/>
                  <a:pt x="1494130" y="18288"/>
                </a:cubicBezTo>
                <a:cubicBezTo>
                  <a:pt x="1167943" y="2673"/>
                  <a:pt x="948432" y="14868"/>
                  <a:pt x="729691" y="18288"/>
                </a:cubicBezTo>
                <a:cubicBezTo>
                  <a:pt x="510950" y="21708"/>
                  <a:pt x="264032" y="24354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80831F1-746F-6B72-5456-FCA6E2AF3F7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40079" y="2908741"/>
                <a:ext cx="10558352" cy="3674938"/>
              </a:xfrm>
            </p:spPr>
            <p:txBody>
              <a:bodyPr>
                <a:normAutofit fontScale="70000" lnSpcReduction="20000"/>
              </a:bodyPr>
              <a:lstStyle/>
              <a:p>
                <a:pPr algn="just">
                  <a:lnSpc>
                    <a:spcPct val="120000"/>
                  </a:lnSpc>
                  <a:buFont typeface="Wingdings" pitchFamily="2" charset="2"/>
                  <a:buChar char="§"/>
                </a:pPr>
                <a:r>
                  <a:rPr lang="en-US" sz="3200" dirty="0"/>
                  <a:t>Dot Product: Consider the dot product of two 4-length signed INT-8 column vectors </a:t>
                </a:r>
                <a14:m>
                  <m:oMath xmlns:m="http://schemas.openxmlformats.org/officeDocument/2006/math">
                    <m:r>
                      <a:rPr lang="en-US" sz="3200" b="1" i="1">
                        <a:latin typeface="Cambria Math" panose="02040503050406030204" pitchFamily="18" charset="0"/>
                      </a:rPr>
                      <m:t>𝑨</m:t>
                    </m:r>
                  </m:oMath>
                </a14:m>
                <a:r>
                  <a:rPr lang="en-US" sz="3200" dirty="0"/>
                  <a:t> and </a:t>
                </a:r>
                <a14:m>
                  <m:oMath xmlns:m="http://schemas.openxmlformats.org/officeDocument/2006/math">
                    <m:r>
                      <a:rPr lang="en-US" sz="3200" b="1" i="1" smtClean="0">
                        <a:latin typeface="Cambria Math" panose="02040503050406030204" pitchFamily="18" charset="0"/>
                      </a:rPr>
                      <m:t>𝑩</m:t>
                    </m:r>
                  </m:oMath>
                </a14:m>
                <a:endParaRPr lang="en-US" sz="3200" b="1" dirty="0"/>
              </a:p>
              <a:p>
                <a:pPr marL="0" indent="0" algn="just">
                  <a:lnSpc>
                    <a:spcPct val="12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900" b="1" i="1" smtClean="0">
                          <a:latin typeface="Cambria Math" panose="02040503050406030204" pitchFamily="18" charset="0"/>
                        </a:rPr>
                        <m:t>𝑨</m:t>
                      </m:r>
                      <m:r>
                        <a:rPr lang="en-US" sz="2900" b="1" i="1" baseline="30000" smtClean="0">
                          <a:latin typeface="Cambria Math" panose="02040503050406030204" pitchFamily="18" charset="0"/>
                        </a:rPr>
                        <m:t>𝑻</m:t>
                      </m:r>
                      <m:r>
                        <a:rPr lang="en-US" sz="2900" b="1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900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900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  <m:r>
                            <a:rPr lang="en-US" sz="2900" b="1" i="1" smtClean="0">
                              <a:latin typeface="Cambria Math" panose="02040503050406030204" pitchFamily="18" charset="0"/>
                            </a:rPr>
                            <m:t>  −</m:t>
                          </m:r>
                          <m:r>
                            <a:rPr lang="en-US" sz="2900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  <m:r>
                            <a:rPr lang="en-US" sz="2900" b="1" i="1" smtClean="0">
                              <a:latin typeface="Cambria Math" panose="02040503050406030204" pitchFamily="18" charset="0"/>
                            </a:rPr>
                            <m:t>  </m:t>
                          </m:r>
                          <m:r>
                            <a:rPr lang="en-US" sz="2900" b="1" i="1" smtClean="0">
                              <a:latin typeface="Cambria Math" panose="02040503050406030204" pitchFamily="18" charset="0"/>
                            </a:rPr>
                            <m:t>𝟑</m:t>
                          </m:r>
                          <m:r>
                            <a:rPr lang="en-US" sz="2900" b="1" i="1" smtClean="0">
                              <a:latin typeface="Cambria Math" panose="02040503050406030204" pitchFamily="18" charset="0"/>
                            </a:rPr>
                            <m:t>  −</m:t>
                          </m:r>
                          <m:r>
                            <a:rPr lang="en-US" sz="2900" b="1" i="1" smtClean="0">
                              <a:latin typeface="Cambria Math" panose="02040503050406030204" pitchFamily="18" charset="0"/>
                            </a:rPr>
                            <m:t>𝟒</m:t>
                          </m:r>
                        </m:e>
                      </m:d>
                      <m:r>
                        <a:rPr lang="en-US" sz="2900" b="1" i="1" smtClean="0">
                          <a:latin typeface="Cambria Math" panose="02040503050406030204" pitchFamily="18" charset="0"/>
                        </a:rPr>
                        <m:t>  </m:t>
                      </m:r>
                      <m:r>
                        <m:rPr>
                          <m:sty m:val="p"/>
                        </m:rPr>
                        <a:rPr lang="en-US" sz="2900" b="1" i="1" smtClean="0">
                          <a:latin typeface="Cambria Math" panose="02040503050406030204" pitchFamily="18" charset="0"/>
                        </a:rPr>
                        <m:t>and</m:t>
                      </m:r>
                      <m:r>
                        <a:rPr lang="en-US" sz="2900" b="1" i="1" smtClean="0"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en-US" sz="2900" b="1" i="1" smtClean="0">
                          <a:latin typeface="Cambria Math" panose="02040503050406030204" pitchFamily="18" charset="0"/>
                        </a:rPr>
                        <m:t>𝑩𝑻</m:t>
                      </m:r>
                      <m:r>
                        <a:rPr lang="en-US" sz="2900" b="1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900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900" b="1" i="1" smtClean="0">
                              <a:latin typeface="Cambria Math" panose="02040503050406030204" pitchFamily="18" charset="0"/>
                            </a:rPr>
                            <m:t>𝟑</m:t>
                          </m:r>
                          <m:r>
                            <a:rPr lang="en-US" sz="2900" b="1" i="1" smtClean="0">
                              <a:latin typeface="Cambria Math" panose="02040503050406030204" pitchFamily="18" charset="0"/>
                            </a:rPr>
                            <m:t>  </m:t>
                          </m:r>
                          <m:r>
                            <a:rPr lang="en-US" sz="2900" b="1" i="1" smtClean="0">
                              <a:latin typeface="Cambria Math" panose="02040503050406030204" pitchFamily="18" charset="0"/>
                            </a:rPr>
                            <m:t>𝟒</m:t>
                          </m:r>
                          <m:r>
                            <a:rPr lang="en-US" sz="2900" b="1" i="1" smtClean="0">
                              <a:latin typeface="Cambria Math" panose="02040503050406030204" pitchFamily="18" charset="0"/>
                            </a:rPr>
                            <m:t>  −</m:t>
                          </m:r>
                          <m:r>
                            <a:rPr lang="en-US" sz="2900" b="1" i="1" smtClean="0">
                              <a:latin typeface="Cambria Math" panose="02040503050406030204" pitchFamily="18" charset="0"/>
                            </a:rPr>
                            <m:t>𝟓</m:t>
                          </m:r>
                          <m:r>
                            <a:rPr lang="en-US" sz="2900" b="1" i="1" smtClean="0">
                              <a:latin typeface="Cambria Math" panose="02040503050406030204" pitchFamily="18" charset="0"/>
                            </a:rPr>
                            <m:t>  </m:t>
                          </m:r>
                          <m:r>
                            <a:rPr lang="en-US" sz="2900" b="1" i="1" smtClean="0">
                              <a:latin typeface="Cambria Math" panose="02040503050406030204" pitchFamily="18" charset="0"/>
                            </a:rPr>
                            <m:t>𝟔</m:t>
                          </m:r>
                        </m:e>
                      </m:d>
                    </m:oMath>
                  </m:oMathPara>
                </a14:m>
                <a:endParaRPr lang="en-US" sz="2900" b="1" i="1" dirty="0">
                  <a:latin typeface="Cambria Math" panose="02040503050406030204" pitchFamily="18" charset="0"/>
                </a:endParaRPr>
              </a:p>
              <a:p>
                <a:pPr algn="just">
                  <a:lnSpc>
                    <a:spcPct val="120000"/>
                  </a:lnSpc>
                  <a:buFont typeface="Wingdings" pitchFamily="2" charset="2"/>
                  <a:buChar char="§"/>
                </a:pPr>
                <a:r>
                  <a:rPr lang="en-US" sz="3100" dirty="0"/>
                  <a:t>Dot product is defined as </a:t>
                </a:r>
              </a:p>
              <a:p>
                <a:pPr marL="0" indent="0" algn="just">
                  <a:lnSpc>
                    <a:spcPct val="12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900" b="1" i="1">
                          <a:latin typeface="Cambria Math" panose="02040503050406030204" pitchFamily="18" charset="0"/>
                        </a:rPr>
                        <m:t>𝑨</m:t>
                      </m:r>
                      <m:r>
                        <a:rPr lang="en-US" sz="2900" b="1" i="1">
                          <a:latin typeface="Cambria Math" panose="02040503050406030204" pitchFamily="18" charset="0"/>
                        </a:rPr>
                        <m:t> .</m:t>
                      </m:r>
                      <m:r>
                        <a:rPr lang="en-US" sz="2900" b="1" i="1" smtClean="0">
                          <a:latin typeface="Cambria Math" panose="02040503050406030204" pitchFamily="18" charset="0"/>
                        </a:rPr>
                        <m:t>𝑩</m:t>
                      </m:r>
                      <m:r>
                        <a:rPr lang="en-US" sz="2900" b="1" i="1" smtClean="0"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en-US" sz="2900" b="1" i="1">
                          <a:latin typeface="Cambria Math" panose="02040503050406030204" pitchFamily="18" charset="0"/>
                        </a:rPr>
                        <m:t>𝑨</m:t>
                      </m:r>
                      <m:r>
                        <a:rPr lang="en-US" sz="2900" b="1" i="1" baseline="30000">
                          <a:latin typeface="Cambria Math" panose="02040503050406030204" pitchFamily="18" charset="0"/>
                        </a:rPr>
                        <m:t>𝑻</m:t>
                      </m:r>
                      <m:r>
                        <a:rPr lang="en-US" sz="2900" b="1" i="1" smtClean="0">
                          <a:latin typeface="Cambria Math" panose="02040503050406030204" pitchFamily="18" charset="0"/>
                        </a:rPr>
                        <m:t>𝑩</m:t>
                      </m:r>
                      <m:r>
                        <a:rPr lang="en-US" sz="2900" b="1" i="0" smtClean="0">
                          <a:latin typeface="Cambria Math" panose="02040503050406030204" pitchFamily="18" charset="0"/>
                        </a:rPr>
                        <m:t> =</m:t>
                      </m:r>
                      <m:nary>
                        <m:naryPr>
                          <m:chr m:val="∑"/>
                          <m:ctrlPr>
                            <a:rPr lang="en-US" sz="2900" b="1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3"/>
                            </m:rPr>
                            <a:rPr lang="en-US" sz="2900" b="1" i="1"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a:rPr lang="en-US" sz="2900" b="1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sz="2900" b="1" i="1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a:rPr lang="en-US" sz="2900" b="1" i="1">
                              <a:latin typeface="Cambria Math" panose="02040503050406030204" pitchFamily="18" charset="0"/>
                            </a:rPr>
                            <m:t>A</m:t>
                          </m:r>
                          <m:r>
                            <a:rPr lang="en-US" sz="2900" b="1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en-US" sz="2900" b="1" i="1"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a:rPr lang="en-US" sz="2900" b="1" i="1">
                              <a:latin typeface="Cambria Math" panose="02040503050406030204" pitchFamily="18" charset="0"/>
                            </a:rPr>
                            <m:t>).</m:t>
                          </m:r>
                          <m:r>
                            <m:rPr>
                              <m:sty m:val="p"/>
                            </m:rPr>
                            <a:rPr lang="en-US" sz="2900" b="1" i="1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US" sz="2900" b="1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en-US" sz="2900" b="1" i="1"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a:rPr lang="en-US" sz="2900" b="1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en-US" sz="2900" b="1" i="1" smtClean="0">
                          <a:latin typeface="Cambria Math" panose="02040503050406030204" pitchFamily="18" charset="0"/>
                        </a:rPr>
                        <m:t>=(1 </m:t>
                      </m:r>
                      <m:r>
                        <m:rPr>
                          <m:sty m:val="p"/>
                        </m:rPr>
                        <a:rPr lang="en-US" sz="2900" b="1" i="1" smtClean="0">
                          <a:latin typeface="Cambria Math" panose="02040503050406030204" pitchFamily="18" charset="0"/>
                        </a:rPr>
                        <m:t>x</m:t>
                      </m:r>
                      <m:r>
                        <a:rPr lang="en-US" sz="2900" b="1" i="1" smtClean="0">
                          <a:latin typeface="Cambria Math" panose="02040503050406030204" pitchFamily="18" charset="0"/>
                        </a:rPr>
                        <m:t> 3)+(−2 </m:t>
                      </m:r>
                      <m:r>
                        <m:rPr>
                          <m:sty m:val="p"/>
                        </m:rPr>
                        <a:rPr lang="en-US" sz="2900" b="1" i="1" smtClean="0">
                          <a:latin typeface="Cambria Math" panose="02040503050406030204" pitchFamily="18" charset="0"/>
                        </a:rPr>
                        <m:t>x</m:t>
                      </m:r>
                      <m:r>
                        <a:rPr lang="en-US" sz="2900" b="1" i="1" smtClean="0">
                          <a:latin typeface="Cambria Math" panose="02040503050406030204" pitchFamily="18" charset="0"/>
                        </a:rPr>
                        <m:t> 4)+(3 </m:t>
                      </m:r>
                      <m:r>
                        <m:rPr>
                          <m:sty m:val="p"/>
                        </m:rPr>
                        <a:rPr lang="en-US" sz="2900" b="1" i="1" smtClean="0">
                          <a:latin typeface="Cambria Math" panose="02040503050406030204" pitchFamily="18" charset="0"/>
                        </a:rPr>
                        <m:t>x</m:t>
                      </m:r>
                      <m:r>
                        <a:rPr lang="en-US" sz="2900" b="1" i="1" smtClean="0">
                          <a:latin typeface="Cambria Math" panose="02040503050406030204" pitchFamily="18" charset="0"/>
                        </a:rPr>
                        <m:t> −5) +(−4 </m:t>
                      </m:r>
                      <m:r>
                        <m:rPr>
                          <m:sty m:val="p"/>
                        </m:rPr>
                        <a:rPr lang="en-US" sz="2900" b="1" i="1" smtClean="0">
                          <a:latin typeface="Cambria Math" panose="02040503050406030204" pitchFamily="18" charset="0"/>
                        </a:rPr>
                        <m:t>x</m:t>
                      </m:r>
                      <m:r>
                        <a:rPr lang="en-US" sz="2900" b="1" i="1" smtClean="0">
                          <a:latin typeface="Cambria Math" panose="02040503050406030204" pitchFamily="18" charset="0"/>
                        </a:rPr>
                        <m:t> 6) = −44</m:t>
                      </m:r>
                    </m:oMath>
                  </m:oMathPara>
                </a14:m>
                <a:endParaRPr lang="en-US" sz="2900" dirty="0"/>
              </a:p>
              <a:p>
                <a:pPr algn="just">
                  <a:lnSpc>
                    <a:spcPct val="120000"/>
                  </a:lnSpc>
                  <a:buFont typeface="Wingdings" pitchFamily="2" charset="2"/>
                  <a:buChar char="§"/>
                </a:pPr>
                <a:r>
                  <a:rPr lang="en-US" sz="3100" dirty="0"/>
                  <a:t>Requires 4 parallel multiplications and 3 addition operations.</a:t>
                </a:r>
              </a:p>
              <a:p>
                <a:pPr algn="just">
                  <a:lnSpc>
                    <a:spcPct val="120000"/>
                  </a:lnSpc>
                  <a:buFont typeface="Wingdings" pitchFamily="2" charset="2"/>
                  <a:buChar char="§"/>
                </a:pPr>
                <a:r>
                  <a:rPr lang="en-US" sz="3100" dirty="0"/>
                  <a:t>Naturally suited for parallel and pipelined hardware implementations. </a:t>
                </a:r>
                <a:endParaRPr lang="en-US" sz="3100" b="1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80831F1-746F-6B72-5456-FCA6E2AF3F7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40079" y="2908741"/>
                <a:ext cx="10558352" cy="3674938"/>
              </a:xfrm>
              <a:blipFill>
                <a:blip r:embed="rId3"/>
                <a:stretch>
                  <a:fillRect l="-601" t="-687" r="-721" b="-1134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B794EA6B-81E9-F1C4-DFD6-A817A971894F}"/>
              </a:ext>
            </a:extLst>
          </p:cNvPr>
          <p:cNvSpPr txBox="1"/>
          <p:nvPr/>
        </p:nvSpPr>
        <p:spPr>
          <a:xfrm>
            <a:off x="5640779" y="2974769"/>
            <a:ext cx="65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04286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97CBB77-C821-45B5-1C93-5C97AD0D80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5A3E158E-DC24-5AAD-D5EF-D210DAC569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A854D9A-9909-88DC-6F0E-749E1313D2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59556"/>
            <a:ext cx="7427026" cy="1031132"/>
          </a:xfrm>
        </p:spPr>
        <p:txBody>
          <a:bodyPr>
            <a:normAutofit/>
          </a:bodyPr>
          <a:lstStyle/>
          <a:p>
            <a:r>
              <a:rPr lang="en-US" sz="3000" b="1" dirty="0"/>
              <a:t>MAC Unit Datapath &amp; Pipelined Architecture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F381A35B-C2BA-6A45-9A8C-F601212B73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sX0" fmla="*/ 0 w 10853928"/>
              <a:gd name="csY0" fmla="*/ 0 h 18288"/>
              <a:gd name="csX1" fmla="*/ 461292 w 10853928"/>
              <a:gd name="csY1" fmla="*/ 0 h 18288"/>
              <a:gd name="csX2" fmla="*/ 1139662 w 10853928"/>
              <a:gd name="csY2" fmla="*/ 0 h 18288"/>
              <a:gd name="csX3" fmla="*/ 1926572 w 10853928"/>
              <a:gd name="csY3" fmla="*/ 0 h 18288"/>
              <a:gd name="csX4" fmla="*/ 2279325 w 10853928"/>
              <a:gd name="csY4" fmla="*/ 0 h 18288"/>
              <a:gd name="csX5" fmla="*/ 2632078 w 10853928"/>
              <a:gd name="csY5" fmla="*/ 0 h 18288"/>
              <a:gd name="csX6" fmla="*/ 3527527 w 10853928"/>
              <a:gd name="csY6" fmla="*/ 0 h 18288"/>
              <a:gd name="csX7" fmla="*/ 4205897 w 10853928"/>
              <a:gd name="csY7" fmla="*/ 0 h 18288"/>
              <a:gd name="csX8" fmla="*/ 4558650 w 10853928"/>
              <a:gd name="csY8" fmla="*/ 0 h 18288"/>
              <a:gd name="csX9" fmla="*/ 5237020 w 10853928"/>
              <a:gd name="csY9" fmla="*/ 0 h 18288"/>
              <a:gd name="csX10" fmla="*/ 6132469 w 10853928"/>
              <a:gd name="csY10" fmla="*/ 0 h 18288"/>
              <a:gd name="csX11" fmla="*/ 6702301 w 10853928"/>
              <a:gd name="csY11" fmla="*/ 0 h 18288"/>
              <a:gd name="csX12" fmla="*/ 7272132 w 10853928"/>
              <a:gd name="csY12" fmla="*/ 0 h 18288"/>
              <a:gd name="csX13" fmla="*/ 7950502 w 10853928"/>
              <a:gd name="csY13" fmla="*/ 0 h 18288"/>
              <a:gd name="csX14" fmla="*/ 8737412 w 10853928"/>
              <a:gd name="csY14" fmla="*/ 0 h 18288"/>
              <a:gd name="csX15" fmla="*/ 9524322 w 10853928"/>
              <a:gd name="csY15" fmla="*/ 0 h 18288"/>
              <a:gd name="csX16" fmla="*/ 10853928 w 10853928"/>
              <a:gd name="csY16" fmla="*/ 0 h 18288"/>
              <a:gd name="csX17" fmla="*/ 10853928 w 10853928"/>
              <a:gd name="csY17" fmla="*/ 18288 h 18288"/>
              <a:gd name="csX18" fmla="*/ 10392636 w 10853928"/>
              <a:gd name="csY18" fmla="*/ 18288 h 18288"/>
              <a:gd name="csX19" fmla="*/ 9497187 w 10853928"/>
              <a:gd name="csY19" fmla="*/ 18288 h 18288"/>
              <a:gd name="csX20" fmla="*/ 8818817 w 10853928"/>
              <a:gd name="csY20" fmla="*/ 18288 h 18288"/>
              <a:gd name="csX21" fmla="*/ 8466064 w 10853928"/>
              <a:gd name="csY21" fmla="*/ 18288 h 18288"/>
              <a:gd name="csX22" fmla="*/ 7787693 w 10853928"/>
              <a:gd name="csY22" fmla="*/ 18288 h 18288"/>
              <a:gd name="csX23" fmla="*/ 7217862 w 10853928"/>
              <a:gd name="csY23" fmla="*/ 18288 h 18288"/>
              <a:gd name="csX24" fmla="*/ 6648031 w 10853928"/>
              <a:gd name="csY24" fmla="*/ 18288 h 18288"/>
              <a:gd name="csX25" fmla="*/ 6078200 w 10853928"/>
              <a:gd name="csY25" fmla="*/ 18288 h 18288"/>
              <a:gd name="csX26" fmla="*/ 5508368 w 10853928"/>
              <a:gd name="csY26" fmla="*/ 18288 h 18288"/>
              <a:gd name="csX27" fmla="*/ 4721459 w 10853928"/>
              <a:gd name="csY27" fmla="*/ 18288 h 18288"/>
              <a:gd name="csX28" fmla="*/ 4043088 w 10853928"/>
              <a:gd name="csY28" fmla="*/ 18288 h 18288"/>
              <a:gd name="csX29" fmla="*/ 3690336 w 10853928"/>
              <a:gd name="csY29" fmla="*/ 18288 h 18288"/>
              <a:gd name="csX30" fmla="*/ 3120504 w 10853928"/>
              <a:gd name="csY30" fmla="*/ 18288 h 18288"/>
              <a:gd name="csX31" fmla="*/ 2333595 w 10853928"/>
              <a:gd name="csY31" fmla="*/ 18288 h 18288"/>
              <a:gd name="csX32" fmla="*/ 1872303 w 10853928"/>
              <a:gd name="csY32" fmla="*/ 18288 h 18288"/>
              <a:gd name="csX33" fmla="*/ 976854 w 10853928"/>
              <a:gd name="csY33" fmla="*/ 18288 h 18288"/>
              <a:gd name="csX34" fmla="*/ 0 w 10853928"/>
              <a:gd name="csY34" fmla="*/ 18288 h 18288"/>
              <a:gd name="csX35" fmla="*/ 0 w 10853928"/>
              <a:gd name="csY35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Content Placeholder 8" descr="A diagram of a computer code&#10;&#10;AI-generated content may be incorrect.">
            <a:extLst>
              <a:ext uri="{FF2B5EF4-FFF2-40B4-BE49-F238E27FC236}">
                <a16:creationId xmlns:a16="http://schemas.microsoft.com/office/drawing/2014/main" id="{6B450C48-D2B6-F012-B4C2-F227B4B5EF7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l="6468" t="12795" r="14791" b="24768"/>
          <a:stretch>
            <a:fillRect/>
          </a:stretch>
        </p:blipFill>
        <p:spPr>
          <a:xfrm>
            <a:off x="481937" y="2526741"/>
            <a:ext cx="4848344" cy="2522772"/>
          </a:xfr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D3BF80A-B865-66A1-6E5B-B3C378B5212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4064" t="14626" r="11228" b="6204"/>
          <a:stretch>
            <a:fillRect/>
          </a:stretch>
        </p:blipFill>
        <p:spPr>
          <a:xfrm>
            <a:off x="5425289" y="2216291"/>
            <a:ext cx="6668651" cy="3675951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F8377BE-00BB-E7D4-BC5E-28491EA97407}"/>
              </a:ext>
            </a:extLst>
          </p:cNvPr>
          <p:cNvSpPr txBox="1"/>
          <p:nvPr/>
        </p:nvSpPr>
        <p:spPr>
          <a:xfrm>
            <a:off x="679711" y="5829112"/>
            <a:ext cx="44527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Figure 1: </a:t>
            </a:r>
            <a:r>
              <a:rPr lang="en-US" sz="1400" dirty="0" err="1">
                <a:latin typeface="Monaco" pitchFamily="2" charset="77"/>
              </a:rPr>
              <a:t>mac_unit</a:t>
            </a:r>
            <a:r>
              <a:rPr lang="en-US" sz="1400" dirty="0">
                <a:latin typeface="Monaco" pitchFamily="2" charset="77"/>
              </a:rPr>
              <a:t> </a:t>
            </a:r>
            <a:r>
              <a:rPr lang="en-US" dirty="0"/>
              <a:t>interface block diagram 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ADF4C02-96A2-7E87-B56B-0E645245CB28}"/>
              </a:ext>
            </a:extLst>
          </p:cNvPr>
          <p:cNvSpPr txBox="1"/>
          <p:nvPr/>
        </p:nvSpPr>
        <p:spPr>
          <a:xfrm>
            <a:off x="7191143" y="5907917"/>
            <a:ext cx="31369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/>
              <a:t>Figure </a:t>
            </a:r>
            <a:r>
              <a:rPr lang="en-US" dirty="0"/>
              <a:t>2</a:t>
            </a:r>
            <a:r>
              <a:rPr lang="en-US" sz="1800" dirty="0"/>
              <a:t>: MAC </a:t>
            </a:r>
            <a:r>
              <a:rPr lang="en-US" dirty="0"/>
              <a:t>Unit Datapath </a:t>
            </a:r>
            <a:r>
              <a:rPr lang="en-US" sz="1800" dirty="0"/>
              <a:t>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CB43C6F-B1F4-0130-EC71-872A7E906C63}"/>
                  </a:ext>
                </a:extLst>
              </p:cNvPr>
              <p:cNvSpPr txBox="1"/>
              <p:nvPr/>
            </p:nvSpPr>
            <p:spPr>
              <a:xfrm>
                <a:off x="6634254" y="6422818"/>
                <a:ext cx="425072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Output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Sizing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= 2</m:t>
                      </m:r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n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+ </m:t>
                      </m:r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log</m:t>
                      </m:r>
                      <m:r>
                        <a:rPr lang="en-US" b="0" i="1" baseline="-25000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N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CB43C6F-B1F4-0130-EC71-872A7E906C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34254" y="6422818"/>
                <a:ext cx="4250724" cy="369332"/>
              </a:xfrm>
              <a:prstGeom prst="rect">
                <a:avLst/>
              </a:prstGeom>
              <a:blipFill>
                <a:blip r:embed="rId5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399253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D4DB2CB-9785-86D7-0DB1-269DC34D9C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6425F498-C1B6-4755-20CE-EC05A421AA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3503E6E-C118-92EF-DDD2-A2B9C17D4B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59556"/>
            <a:ext cx="7427026" cy="1031132"/>
          </a:xfrm>
        </p:spPr>
        <p:txBody>
          <a:bodyPr>
            <a:normAutofit/>
          </a:bodyPr>
          <a:lstStyle/>
          <a:p>
            <a:r>
              <a:rPr lang="en-US" sz="3000" b="1" dirty="0"/>
              <a:t>Pipeline Control and Timing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834ADC6-C8F4-3F4E-A771-71957963D3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sX0" fmla="*/ 0 w 10853928"/>
              <a:gd name="csY0" fmla="*/ 0 h 18288"/>
              <a:gd name="csX1" fmla="*/ 461292 w 10853928"/>
              <a:gd name="csY1" fmla="*/ 0 h 18288"/>
              <a:gd name="csX2" fmla="*/ 1139662 w 10853928"/>
              <a:gd name="csY2" fmla="*/ 0 h 18288"/>
              <a:gd name="csX3" fmla="*/ 1926572 w 10853928"/>
              <a:gd name="csY3" fmla="*/ 0 h 18288"/>
              <a:gd name="csX4" fmla="*/ 2279325 w 10853928"/>
              <a:gd name="csY4" fmla="*/ 0 h 18288"/>
              <a:gd name="csX5" fmla="*/ 2632078 w 10853928"/>
              <a:gd name="csY5" fmla="*/ 0 h 18288"/>
              <a:gd name="csX6" fmla="*/ 3527527 w 10853928"/>
              <a:gd name="csY6" fmla="*/ 0 h 18288"/>
              <a:gd name="csX7" fmla="*/ 4205897 w 10853928"/>
              <a:gd name="csY7" fmla="*/ 0 h 18288"/>
              <a:gd name="csX8" fmla="*/ 4558650 w 10853928"/>
              <a:gd name="csY8" fmla="*/ 0 h 18288"/>
              <a:gd name="csX9" fmla="*/ 5237020 w 10853928"/>
              <a:gd name="csY9" fmla="*/ 0 h 18288"/>
              <a:gd name="csX10" fmla="*/ 6132469 w 10853928"/>
              <a:gd name="csY10" fmla="*/ 0 h 18288"/>
              <a:gd name="csX11" fmla="*/ 6702301 w 10853928"/>
              <a:gd name="csY11" fmla="*/ 0 h 18288"/>
              <a:gd name="csX12" fmla="*/ 7272132 w 10853928"/>
              <a:gd name="csY12" fmla="*/ 0 h 18288"/>
              <a:gd name="csX13" fmla="*/ 7950502 w 10853928"/>
              <a:gd name="csY13" fmla="*/ 0 h 18288"/>
              <a:gd name="csX14" fmla="*/ 8737412 w 10853928"/>
              <a:gd name="csY14" fmla="*/ 0 h 18288"/>
              <a:gd name="csX15" fmla="*/ 9524322 w 10853928"/>
              <a:gd name="csY15" fmla="*/ 0 h 18288"/>
              <a:gd name="csX16" fmla="*/ 10853928 w 10853928"/>
              <a:gd name="csY16" fmla="*/ 0 h 18288"/>
              <a:gd name="csX17" fmla="*/ 10853928 w 10853928"/>
              <a:gd name="csY17" fmla="*/ 18288 h 18288"/>
              <a:gd name="csX18" fmla="*/ 10392636 w 10853928"/>
              <a:gd name="csY18" fmla="*/ 18288 h 18288"/>
              <a:gd name="csX19" fmla="*/ 9497187 w 10853928"/>
              <a:gd name="csY19" fmla="*/ 18288 h 18288"/>
              <a:gd name="csX20" fmla="*/ 8818817 w 10853928"/>
              <a:gd name="csY20" fmla="*/ 18288 h 18288"/>
              <a:gd name="csX21" fmla="*/ 8466064 w 10853928"/>
              <a:gd name="csY21" fmla="*/ 18288 h 18288"/>
              <a:gd name="csX22" fmla="*/ 7787693 w 10853928"/>
              <a:gd name="csY22" fmla="*/ 18288 h 18288"/>
              <a:gd name="csX23" fmla="*/ 7217862 w 10853928"/>
              <a:gd name="csY23" fmla="*/ 18288 h 18288"/>
              <a:gd name="csX24" fmla="*/ 6648031 w 10853928"/>
              <a:gd name="csY24" fmla="*/ 18288 h 18288"/>
              <a:gd name="csX25" fmla="*/ 6078200 w 10853928"/>
              <a:gd name="csY25" fmla="*/ 18288 h 18288"/>
              <a:gd name="csX26" fmla="*/ 5508368 w 10853928"/>
              <a:gd name="csY26" fmla="*/ 18288 h 18288"/>
              <a:gd name="csX27" fmla="*/ 4721459 w 10853928"/>
              <a:gd name="csY27" fmla="*/ 18288 h 18288"/>
              <a:gd name="csX28" fmla="*/ 4043088 w 10853928"/>
              <a:gd name="csY28" fmla="*/ 18288 h 18288"/>
              <a:gd name="csX29" fmla="*/ 3690336 w 10853928"/>
              <a:gd name="csY29" fmla="*/ 18288 h 18288"/>
              <a:gd name="csX30" fmla="*/ 3120504 w 10853928"/>
              <a:gd name="csY30" fmla="*/ 18288 h 18288"/>
              <a:gd name="csX31" fmla="*/ 2333595 w 10853928"/>
              <a:gd name="csY31" fmla="*/ 18288 h 18288"/>
              <a:gd name="csX32" fmla="*/ 1872303 w 10853928"/>
              <a:gd name="csY32" fmla="*/ 18288 h 18288"/>
              <a:gd name="csX33" fmla="*/ 976854 w 10853928"/>
              <a:gd name="csY33" fmla="*/ 18288 h 18288"/>
              <a:gd name="csX34" fmla="*/ 0 w 10853928"/>
              <a:gd name="csY34" fmla="*/ 18288 h 18288"/>
              <a:gd name="csX35" fmla="*/ 0 w 10853928"/>
              <a:gd name="csY35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5AD55E2-3124-7261-1583-FC59E9E7ED3C}"/>
              </a:ext>
            </a:extLst>
          </p:cNvPr>
          <p:cNvSpPr txBox="1"/>
          <p:nvPr/>
        </p:nvSpPr>
        <p:spPr>
          <a:xfrm>
            <a:off x="7068015" y="6029167"/>
            <a:ext cx="372533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/>
              <a:t>Figure 3: MAC Unit Pipeline Data Flow  </a:t>
            </a:r>
          </a:p>
        </p:txBody>
      </p:sp>
      <p:pic>
        <p:nvPicPr>
          <p:cNvPr id="13" name="Content Placeholder 1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D3BB227F-1356-E238-A726-07B91A82FCE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l="9592" t="7687" r="9398" b="8661"/>
          <a:stretch>
            <a:fillRect/>
          </a:stretch>
        </p:blipFill>
        <p:spPr>
          <a:xfrm>
            <a:off x="6690731" y="2091599"/>
            <a:ext cx="4479903" cy="3770821"/>
          </a:xfr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4FF43E47-8729-EC78-F113-651D678A5AB9}"/>
              </a:ext>
            </a:extLst>
          </p:cNvPr>
          <p:cNvSpPr txBox="1"/>
          <p:nvPr/>
        </p:nvSpPr>
        <p:spPr>
          <a:xfrm>
            <a:off x="838200" y="2350244"/>
            <a:ext cx="4479903" cy="3477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SG" sz="2200" b="1" dirty="0"/>
              <a:t>Pulse-Triggered Execution:</a:t>
            </a:r>
            <a:r>
              <a:rPr lang="en-SG" sz="2200" dirty="0"/>
              <a:t> A single-cycle </a:t>
            </a:r>
            <a:r>
              <a:rPr lang="en-SG" dirty="0" err="1">
                <a:latin typeface="Monaco" pitchFamily="2" charset="77"/>
              </a:rPr>
              <a:t>i_start</a:t>
            </a:r>
            <a:r>
              <a:rPr lang="en-SG" dirty="0">
                <a:latin typeface="Monaco" pitchFamily="2" charset="77"/>
              </a:rPr>
              <a:t> </a:t>
            </a:r>
            <a:r>
              <a:rPr lang="en-SG" sz="2200" dirty="0"/>
              <a:t>launches the 3-stage pipeline.</a:t>
            </a:r>
          </a:p>
          <a:p>
            <a:pPr algn="just"/>
            <a:endParaRPr lang="en-SG" sz="2200" dirty="0"/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SG" sz="2200" b="1" dirty="0"/>
              <a:t>Delay-Matched Control:</a:t>
            </a:r>
            <a:r>
              <a:rPr lang="en-SG" sz="2200" dirty="0"/>
              <a:t> Control signals are register-aligned with </a:t>
            </a:r>
            <a:r>
              <a:rPr lang="en-SG" sz="2200" dirty="0" err="1"/>
              <a:t>datapath</a:t>
            </a:r>
            <a:r>
              <a:rPr lang="en-SG" sz="2200" dirty="0"/>
              <a:t> stages.</a:t>
            </a:r>
          </a:p>
          <a:p>
            <a:pPr algn="just"/>
            <a:endParaRPr lang="en-SG" sz="2200" dirty="0"/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SG" sz="2200" b="1" dirty="0"/>
              <a:t>Deterministic Output:</a:t>
            </a:r>
            <a:r>
              <a:rPr lang="en-SG" sz="2200" dirty="0"/>
              <a:t> </a:t>
            </a:r>
            <a:r>
              <a:rPr lang="en-SG" dirty="0" err="1">
                <a:latin typeface="Monaco" pitchFamily="2" charset="77"/>
              </a:rPr>
              <a:t>o_valid</a:t>
            </a:r>
            <a:r>
              <a:rPr lang="en-SG" dirty="0">
                <a:latin typeface="Monaco" pitchFamily="2" charset="77"/>
              </a:rPr>
              <a:t> </a:t>
            </a:r>
            <a:r>
              <a:rPr lang="en-SG" sz="2200" dirty="0"/>
              <a:t>asserts the 18-bit output.</a:t>
            </a:r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645407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626981E-4C2E-4DF6-F865-5445007003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FA43C028-C6BE-FFDD-85D9-9941AA2E8E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8BC794B-B9B9-9B15-B728-F9543F4F3A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59556"/>
            <a:ext cx="7427026" cy="1031132"/>
          </a:xfrm>
        </p:spPr>
        <p:txBody>
          <a:bodyPr>
            <a:normAutofit/>
          </a:bodyPr>
          <a:lstStyle/>
          <a:p>
            <a:r>
              <a:rPr lang="en-US" sz="3000" b="1" dirty="0"/>
              <a:t>Verification – Waveform Analysis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82A97049-227D-1AA4-F222-22218E916A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sX0" fmla="*/ 0 w 10853928"/>
              <a:gd name="csY0" fmla="*/ 0 h 18288"/>
              <a:gd name="csX1" fmla="*/ 461292 w 10853928"/>
              <a:gd name="csY1" fmla="*/ 0 h 18288"/>
              <a:gd name="csX2" fmla="*/ 1139662 w 10853928"/>
              <a:gd name="csY2" fmla="*/ 0 h 18288"/>
              <a:gd name="csX3" fmla="*/ 1926572 w 10853928"/>
              <a:gd name="csY3" fmla="*/ 0 h 18288"/>
              <a:gd name="csX4" fmla="*/ 2279325 w 10853928"/>
              <a:gd name="csY4" fmla="*/ 0 h 18288"/>
              <a:gd name="csX5" fmla="*/ 2632078 w 10853928"/>
              <a:gd name="csY5" fmla="*/ 0 h 18288"/>
              <a:gd name="csX6" fmla="*/ 3527527 w 10853928"/>
              <a:gd name="csY6" fmla="*/ 0 h 18288"/>
              <a:gd name="csX7" fmla="*/ 4205897 w 10853928"/>
              <a:gd name="csY7" fmla="*/ 0 h 18288"/>
              <a:gd name="csX8" fmla="*/ 4558650 w 10853928"/>
              <a:gd name="csY8" fmla="*/ 0 h 18288"/>
              <a:gd name="csX9" fmla="*/ 5237020 w 10853928"/>
              <a:gd name="csY9" fmla="*/ 0 h 18288"/>
              <a:gd name="csX10" fmla="*/ 6132469 w 10853928"/>
              <a:gd name="csY10" fmla="*/ 0 h 18288"/>
              <a:gd name="csX11" fmla="*/ 6702301 w 10853928"/>
              <a:gd name="csY11" fmla="*/ 0 h 18288"/>
              <a:gd name="csX12" fmla="*/ 7272132 w 10853928"/>
              <a:gd name="csY12" fmla="*/ 0 h 18288"/>
              <a:gd name="csX13" fmla="*/ 7950502 w 10853928"/>
              <a:gd name="csY13" fmla="*/ 0 h 18288"/>
              <a:gd name="csX14" fmla="*/ 8737412 w 10853928"/>
              <a:gd name="csY14" fmla="*/ 0 h 18288"/>
              <a:gd name="csX15" fmla="*/ 9524322 w 10853928"/>
              <a:gd name="csY15" fmla="*/ 0 h 18288"/>
              <a:gd name="csX16" fmla="*/ 10853928 w 10853928"/>
              <a:gd name="csY16" fmla="*/ 0 h 18288"/>
              <a:gd name="csX17" fmla="*/ 10853928 w 10853928"/>
              <a:gd name="csY17" fmla="*/ 18288 h 18288"/>
              <a:gd name="csX18" fmla="*/ 10392636 w 10853928"/>
              <a:gd name="csY18" fmla="*/ 18288 h 18288"/>
              <a:gd name="csX19" fmla="*/ 9497187 w 10853928"/>
              <a:gd name="csY19" fmla="*/ 18288 h 18288"/>
              <a:gd name="csX20" fmla="*/ 8818817 w 10853928"/>
              <a:gd name="csY20" fmla="*/ 18288 h 18288"/>
              <a:gd name="csX21" fmla="*/ 8466064 w 10853928"/>
              <a:gd name="csY21" fmla="*/ 18288 h 18288"/>
              <a:gd name="csX22" fmla="*/ 7787693 w 10853928"/>
              <a:gd name="csY22" fmla="*/ 18288 h 18288"/>
              <a:gd name="csX23" fmla="*/ 7217862 w 10853928"/>
              <a:gd name="csY23" fmla="*/ 18288 h 18288"/>
              <a:gd name="csX24" fmla="*/ 6648031 w 10853928"/>
              <a:gd name="csY24" fmla="*/ 18288 h 18288"/>
              <a:gd name="csX25" fmla="*/ 6078200 w 10853928"/>
              <a:gd name="csY25" fmla="*/ 18288 h 18288"/>
              <a:gd name="csX26" fmla="*/ 5508368 w 10853928"/>
              <a:gd name="csY26" fmla="*/ 18288 h 18288"/>
              <a:gd name="csX27" fmla="*/ 4721459 w 10853928"/>
              <a:gd name="csY27" fmla="*/ 18288 h 18288"/>
              <a:gd name="csX28" fmla="*/ 4043088 w 10853928"/>
              <a:gd name="csY28" fmla="*/ 18288 h 18288"/>
              <a:gd name="csX29" fmla="*/ 3690336 w 10853928"/>
              <a:gd name="csY29" fmla="*/ 18288 h 18288"/>
              <a:gd name="csX30" fmla="*/ 3120504 w 10853928"/>
              <a:gd name="csY30" fmla="*/ 18288 h 18288"/>
              <a:gd name="csX31" fmla="*/ 2333595 w 10853928"/>
              <a:gd name="csY31" fmla="*/ 18288 h 18288"/>
              <a:gd name="csX32" fmla="*/ 1872303 w 10853928"/>
              <a:gd name="csY32" fmla="*/ 18288 h 18288"/>
              <a:gd name="csX33" fmla="*/ 976854 w 10853928"/>
              <a:gd name="csY33" fmla="*/ 18288 h 18288"/>
              <a:gd name="csX34" fmla="*/ 0 w 10853928"/>
              <a:gd name="csY34" fmla="*/ 18288 h 18288"/>
              <a:gd name="csX35" fmla="*/ 0 w 10853928"/>
              <a:gd name="csY35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091A411F-121C-2CA9-6E1B-916EEA70E4C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/>
          <a:stretch/>
        </p:blipFill>
        <p:spPr>
          <a:xfrm>
            <a:off x="831702" y="1890380"/>
            <a:ext cx="10525547" cy="4444512"/>
          </a:xfr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5F90F2E-E9BC-6200-E0F9-AE4E8E267BF5}"/>
              </a:ext>
            </a:extLst>
          </p:cNvPr>
          <p:cNvSpPr txBox="1"/>
          <p:nvPr/>
        </p:nvSpPr>
        <p:spPr>
          <a:xfrm>
            <a:off x="4131733" y="6401362"/>
            <a:ext cx="387208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/>
              <a:t>Figure 4: MAC Unit Output Waveform </a:t>
            </a:r>
          </a:p>
        </p:txBody>
      </p:sp>
    </p:spTree>
    <p:extLst>
      <p:ext uri="{BB962C8B-B14F-4D97-AF65-F5344CB8AC3E}">
        <p14:creationId xmlns:p14="http://schemas.microsoft.com/office/powerpoint/2010/main" val="29398391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1DDCA85-9A94-E0E5-876C-B63C89327D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4CD8C3D-9B72-8B8D-3D63-3E9D0E34E6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B43980E-8E15-7FBC-A927-66EBECBA32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59556"/>
            <a:ext cx="7427026" cy="1031132"/>
          </a:xfrm>
        </p:spPr>
        <p:txBody>
          <a:bodyPr>
            <a:normAutofit/>
          </a:bodyPr>
          <a:lstStyle/>
          <a:p>
            <a:r>
              <a:rPr lang="en-US" sz="3000" b="1" dirty="0"/>
              <a:t>Verification – </a:t>
            </a:r>
            <a:r>
              <a:rPr lang="en-US" sz="3000" b="1" dirty="0" err="1"/>
              <a:t>cocotb</a:t>
            </a:r>
            <a:r>
              <a:rPr lang="en-US" sz="3000" b="1" dirty="0"/>
              <a:t> (Python-based)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8FC099D7-14B3-EF74-0AEE-8899C0EB5F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sX0" fmla="*/ 0 w 10853928"/>
              <a:gd name="csY0" fmla="*/ 0 h 18288"/>
              <a:gd name="csX1" fmla="*/ 461292 w 10853928"/>
              <a:gd name="csY1" fmla="*/ 0 h 18288"/>
              <a:gd name="csX2" fmla="*/ 1139662 w 10853928"/>
              <a:gd name="csY2" fmla="*/ 0 h 18288"/>
              <a:gd name="csX3" fmla="*/ 1926572 w 10853928"/>
              <a:gd name="csY3" fmla="*/ 0 h 18288"/>
              <a:gd name="csX4" fmla="*/ 2279325 w 10853928"/>
              <a:gd name="csY4" fmla="*/ 0 h 18288"/>
              <a:gd name="csX5" fmla="*/ 2632078 w 10853928"/>
              <a:gd name="csY5" fmla="*/ 0 h 18288"/>
              <a:gd name="csX6" fmla="*/ 3527527 w 10853928"/>
              <a:gd name="csY6" fmla="*/ 0 h 18288"/>
              <a:gd name="csX7" fmla="*/ 4205897 w 10853928"/>
              <a:gd name="csY7" fmla="*/ 0 h 18288"/>
              <a:gd name="csX8" fmla="*/ 4558650 w 10853928"/>
              <a:gd name="csY8" fmla="*/ 0 h 18288"/>
              <a:gd name="csX9" fmla="*/ 5237020 w 10853928"/>
              <a:gd name="csY9" fmla="*/ 0 h 18288"/>
              <a:gd name="csX10" fmla="*/ 6132469 w 10853928"/>
              <a:gd name="csY10" fmla="*/ 0 h 18288"/>
              <a:gd name="csX11" fmla="*/ 6702301 w 10853928"/>
              <a:gd name="csY11" fmla="*/ 0 h 18288"/>
              <a:gd name="csX12" fmla="*/ 7272132 w 10853928"/>
              <a:gd name="csY12" fmla="*/ 0 h 18288"/>
              <a:gd name="csX13" fmla="*/ 7950502 w 10853928"/>
              <a:gd name="csY13" fmla="*/ 0 h 18288"/>
              <a:gd name="csX14" fmla="*/ 8737412 w 10853928"/>
              <a:gd name="csY14" fmla="*/ 0 h 18288"/>
              <a:gd name="csX15" fmla="*/ 9524322 w 10853928"/>
              <a:gd name="csY15" fmla="*/ 0 h 18288"/>
              <a:gd name="csX16" fmla="*/ 10853928 w 10853928"/>
              <a:gd name="csY16" fmla="*/ 0 h 18288"/>
              <a:gd name="csX17" fmla="*/ 10853928 w 10853928"/>
              <a:gd name="csY17" fmla="*/ 18288 h 18288"/>
              <a:gd name="csX18" fmla="*/ 10392636 w 10853928"/>
              <a:gd name="csY18" fmla="*/ 18288 h 18288"/>
              <a:gd name="csX19" fmla="*/ 9497187 w 10853928"/>
              <a:gd name="csY19" fmla="*/ 18288 h 18288"/>
              <a:gd name="csX20" fmla="*/ 8818817 w 10853928"/>
              <a:gd name="csY20" fmla="*/ 18288 h 18288"/>
              <a:gd name="csX21" fmla="*/ 8466064 w 10853928"/>
              <a:gd name="csY21" fmla="*/ 18288 h 18288"/>
              <a:gd name="csX22" fmla="*/ 7787693 w 10853928"/>
              <a:gd name="csY22" fmla="*/ 18288 h 18288"/>
              <a:gd name="csX23" fmla="*/ 7217862 w 10853928"/>
              <a:gd name="csY23" fmla="*/ 18288 h 18288"/>
              <a:gd name="csX24" fmla="*/ 6648031 w 10853928"/>
              <a:gd name="csY24" fmla="*/ 18288 h 18288"/>
              <a:gd name="csX25" fmla="*/ 6078200 w 10853928"/>
              <a:gd name="csY25" fmla="*/ 18288 h 18288"/>
              <a:gd name="csX26" fmla="*/ 5508368 w 10853928"/>
              <a:gd name="csY26" fmla="*/ 18288 h 18288"/>
              <a:gd name="csX27" fmla="*/ 4721459 w 10853928"/>
              <a:gd name="csY27" fmla="*/ 18288 h 18288"/>
              <a:gd name="csX28" fmla="*/ 4043088 w 10853928"/>
              <a:gd name="csY28" fmla="*/ 18288 h 18288"/>
              <a:gd name="csX29" fmla="*/ 3690336 w 10853928"/>
              <a:gd name="csY29" fmla="*/ 18288 h 18288"/>
              <a:gd name="csX30" fmla="*/ 3120504 w 10853928"/>
              <a:gd name="csY30" fmla="*/ 18288 h 18288"/>
              <a:gd name="csX31" fmla="*/ 2333595 w 10853928"/>
              <a:gd name="csY31" fmla="*/ 18288 h 18288"/>
              <a:gd name="csX32" fmla="*/ 1872303 w 10853928"/>
              <a:gd name="csY32" fmla="*/ 18288 h 18288"/>
              <a:gd name="csX33" fmla="*/ 976854 w 10853928"/>
              <a:gd name="csY33" fmla="*/ 18288 h 18288"/>
              <a:gd name="csX34" fmla="*/ 0 w 10853928"/>
              <a:gd name="csY34" fmla="*/ 18288 h 18288"/>
              <a:gd name="csX35" fmla="*/ 0 w 10853928"/>
              <a:gd name="csY35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screen shot of a computer&#10;&#10;AI-generated content may be incorrect.">
            <a:extLst>
              <a:ext uri="{FF2B5EF4-FFF2-40B4-BE49-F238E27FC236}">
                <a16:creationId xmlns:a16="http://schemas.microsoft.com/office/drawing/2014/main" id="{C5C24645-D670-3FAC-0718-EE7916DF83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037" y="2155848"/>
            <a:ext cx="10853928" cy="377635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1B356AE-F6CD-6451-8F3B-5471BB0649C8}"/>
              </a:ext>
            </a:extLst>
          </p:cNvPr>
          <p:cNvSpPr txBox="1"/>
          <p:nvPr/>
        </p:nvSpPr>
        <p:spPr>
          <a:xfrm>
            <a:off x="3273777" y="6025767"/>
            <a:ext cx="64714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/>
              <a:t>Figure 5:  </a:t>
            </a:r>
            <a:r>
              <a:rPr lang="en-SG" dirty="0" err="1"/>
              <a:t>cocotb</a:t>
            </a:r>
            <a:r>
              <a:rPr lang="en-SG" dirty="0"/>
              <a:t> Console Log – MAC Unit Functional Verification</a:t>
            </a: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31232217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380C8AB-9092-8CBE-059A-5D6BBFD6D2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F42FD62-E7E5-3382-B3FE-78DE7602E0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8A2C0D2-8E7D-6B55-D2E5-EF13107EFF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59556"/>
            <a:ext cx="9362704" cy="1031132"/>
          </a:xfrm>
        </p:spPr>
        <p:txBody>
          <a:bodyPr>
            <a:normAutofit/>
          </a:bodyPr>
          <a:lstStyle/>
          <a:p>
            <a:r>
              <a:rPr lang="en-US" sz="3000" b="1" dirty="0"/>
              <a:t>Task 2 : System Integration – Memory Mapped Interface 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2F69148B-EACB-904D-3F05-196DB68936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sX0" fmla="*/ 0 w 10853928"/>
              <a:gd name="csY0" fmla="*/ 0 h 18288"/>
              <a:gd name="csX1" fmla="*/ 461292 w 10853928"/>
              <a:gd name="csY1" fmla="*/ 0 h 18288"/>
              <a:gd name="csX2" fmla="*/ 1139662 w 10853928"/>
              <a:gd name="csY2" fmla="*/ 0 h 18288"/>
              <a:gd name="csX3" fmla="*/ 1926572 w 10853928"/>
              <a:gd name="csY3" fmla="*/ 0 h 18288"/>
              <a:gd name="csX4" fmla="*/ 2279325 w 10853928"/>
              <a:gd name="csY4" fmla="*/ 0 h 18288"/>
              <a:gd name="csX5" fmla="*/ 2632078 w 10853928"/>
              <a:gd name="csY5" fmla="*/ 0 h 18288"/>
              <a:gd name="csX6" fmla="*/ 3527527 w 10853928"/>
              <a:gd name="csY6" fmla="*/ 0 h 18288"/>
              <a:gd name="csX7" fmla="*/ 4205897 w 10853928"/>
              <a:gd name="csY7" fmla="*/ 0 h 18288"/>
              <a:gd name="csX8" fmla="*/ 4558650 w 10853928"/>
              <a:gd name="csY8" fmla="*/ 0 h 18288"/>
              <a:gd name="csX9" fmla="*/ 5237020 w 10853928"/>
              <a:gd name="csY9" fmla="*/ 0 h 18288"/>
              <a:gd name="csX10" fmla="*/ 6132469 w 10853928"/>
              <a:gd name="csY10" fmla="*/ 0 h 18288"/>
              <a:gd name="csX11" fmla="*/ 6702301 w 10853928"/>
              <a:gd name="csY11" fmla="*/ 0 h 18288"/>
              <a:gd name="csX12" fmla="*/ 7272132 w 10853928"/>
              <a:gd name="csY12" fmla="*/ 0 h 18288"/>
              <a:gd name="csX13" fmla="*/ 7950502 w 10853928"/>
              <a:gd name="csY13" fmla="*/ 0 h 18288"/>
              <a:gd name="csX14" fmla="*/ 8737412 w 10853928"/>
              <a:gd name="csY14" fmla="*/ 0 h 18288"/>
              <a:gd name="csX15" fmla="*/ 9524322 w 10853928"/>
              <a:gd name="csY15" fmla="*/ 0 h 18288"/>
              <a:gd name="csX16" fmla="*/ 10853928 w 10853928"/>
              <a:gd name="csY16" fmla="*/ 0 h 18288"/>
              <a:gd name="csX17" fmla="*/ 10853928 w 10853928"/>
              <a:gd name="csY17" fmla="*/ 18288 h 18288"/>
              <a:gd name="csX18" fmla="*/ 10392636 w 10853928"/>
              <a:gd name="csY18" fmla="*/ 18288 h 18288"/>
              <a:gd name="csX19" fmla="*/ 9497187 w 10853928"/>
              <a:gd name="csY19" fmla="*/ 18288 h 18288"/>
              <a:gd name="csX20" fmla="*/ 8818817 w 10853928"/>
              <a:gd name="csY20" fmla="*/ 18288 h 18288"/>
              <a:gd name="csX21" fmla="*/ 8466064 w 10853928"/>
              <a:gd name="csY21" fmla="*/ 18288 h 18288"/>
              <a:gd name="csX22" fmla="*/ 7787693 w 10853928"/>
              <a:gd name="csY22" fmla="*/ 18288 h 18288"/>
              <a:gd name="csX23" fmla="*/ 7217862 w 10853928"/>
              <a:gd name="csY23" fmla="*/ 18288 h 18288"/>
              <a:gd name="csX24" fmla="*/ 6648031 w 10853928"/>
              <a:gd name="csY24" fmla="*/ 18288 h 18288"/>
              <a:gd name="csX25" fmla="*/ 6078200 w 10853928"/>
              <a:gd name="csY25" fmla="*/ 18288 h 18288"/>
              <a:gd name="csX26" fmla="*/ 5508368 w 10853928"/>
              <a:gd name="csY26" fmla="*/ 18288 h 18288"/>
              <a:gd name="csX27" fmla="*/ 4721459 w 10853928"/>
              <a:gd name="csY27" fmla="*/ 18288 h 18288"/>
              <a:gd name="csX28" fmla="*/ 4043088 w 10853928"/>
              <a:gd name="csY28" fmla="*/ 18288 h 18288"/>
              <a:gd name="csX29" fmla="*/ 3690336 w 10853928"/>
              <a:gd name="csY29" fmla="*/ 18288 h 18288"/>
              <a:gd name="csX30" fmla="*/ 3120504 w 10853928"/>
              <a:gd name="csY30" fmla="*/ 18288 h 18288"/>
              <a:gd name="csX31" fmla="*/ 2333595 w 10853928"/>
              <a:gd name="csY31" fmla="*/ 18288 h 18288"/>
              <a:gd name="csX32" fmla="*/ 1872303 w 10853928"/>
              <a:gd name="csY32" fmla="*/ 18288 h 18288"/>
              <a:gd name="csX33" fmla="*/ 976854 w 10853928"/>
              <a:gd name="csY33" fmla="*/ 18288 h 18288"/>
              <a:gd name="csX34" fmla="*/ 0 w 10853928"/>
              <a:gd name="csY34" fmla="*/ 18288 h 18288"/>
              <a:gd name="csX35" fmla="*/ 0 w 10853928"/>
              <a:gd name="csY35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0983890-4B1B-174B-00F9-3F89C69F7B2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l="12103" t="13138" r="12803" b="20782"/>
          <a:stretch>
            <a:fillRect/>
          </a:stretch>
        </p:blipFill>
        <p:spPr>
          <a:xfrm>
            <a:off x="5921297" y="2280137"/>
            <a:ext cx="5720575" cy="3361815"/>
          </a:xfr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6B2F4CE-EF90-3A1B-7DED-3627F03BE67D}"/>
              </a:ext>
            </a:extLst>
          </p:cNvPr>
          <p:cNvSpPr txBox="1"/>
          <p:nvPr/>
        </p:nvSpPr>
        <p:spPr>
          <a:xfrm>
            <a:off x="6850811" y="5772791"/>
            <a:ext cx="41204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/>
              <a:t>Figure </a:t>
            </a:r>
            <a:r>
              <a:rPr lang="en-US" dirty="0"/>
              <a:t>6: Data Flow Diagram Top Module</a:t>
            </a:r>
            <a:endParaRPr lang="en-US" sz="18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C82EA0D-580A-3DE5-F1D5-FB4823915BDE}"/>
              </a:ext>
            </a:extLst>
          </p:cNvPr>
          <p:cNvSpPr txBox="1"/>
          <p:nvPr/>
        </p:nvSpPr>
        <p:spPr>
          <a:xfrm>
            <a:off x="713339" y="2114298"/>
            <a:ext cx="4806213" cy="44935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SG" sz="2200" b="1" dirty="0"/>
              <a:t>Unified Top-Level</a:t>
            </a:r>
            <a:r>
              <a:rPr lang="en-SG" sz="2200" dirty="0"/>
              <a:t>: Integrates the MAC compute core with a Register-Mapped Memory Interface.</a:t>
            </a:r>
          </a:p>
          <a:p>
            <a:pPr algn="just"/>
            <a:endParaRPr lang="en-SG" sz="2200" dirty="0"/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SG" sz="2200" b="1" dirty="0"/>
              <a:t>Dual-Strategy: </a:t>
            </a:r>
            <a:r>
              <a:rPr lang="en-SG" sz="2200" dirty="0"/>
              <a:t>Built to support both ‘</a:t>
            </a:r>
            <a:r>
              <a:rPr lang="en-SG" sz="2200" i="1" dirty="0"/>
              <a:t>Stalled</a:t>
            </a:r>
            <a:r>
              <a:rPr lang="en-SG" sz="2200" dirty="0"/>
              <a:t>’ (safety-first) and ‘</a:t>
            </a:r>
            <a:r>
              <a:rPr lang="en-SG" sz="2200" i="1" dirty="0"/>
              <a:t>Streaming</a:t>
            </a:r>
            <a:r>
              <a:rPr lang="en-SG" sz="2200" dirty="0"/>
              <a:t>’ (performance-first) control logic.</a:t>
            </a:r>
          </a:p>
          <a:p>
            <a:pPr algn="just"/>
            <a:endParaRPr lang="en-SG" sz="2200" dirty="0"/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SG" sz="2200" b="1" dirty="0"/>
              <a:t>Modular Design</a:t>
            </a:r>
            <a:r>
              <a:rPr lang="en-SG" sz="2200" dirty="0"/>
              <a:t>: Allows for easy swapping between ‘</a:t>
            </a:r>
            <a:r>
              <a:rPr lang="en-SG" sz="2200" i="1" dirty="0"/>
              <a:t>Stalled</a:t>
            </a:r>
            <a:r>
              <a:rPr lang="en-SG" sz="2200" dirty="0"/>
              <a:t>’ and ‘</a:t>
            </a:r>
            <a:r>
              <a:rPr lang="en-SG" sz="2200" i="1" dirty="0"/>
              <a:t>Streaming</a:t>
            </a:r>
            <a:r>
              <a:rPr lang="en-SG" sz="2200" dirty="0"/>
              <a:t>’ control logic.</a:t>
            </a:r>
          </a:p>
          <a:p>
            <a:pPr algn="just"/>
            <a:endParaRPr lang="en-US" sz="22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648DB9E-6F4F-D785-0889-B915426B7D36}"/>
              </a:ext>
            </a:extLst>
          </p:cNvPr>
          <p:cNvSpPr txBox="1"/>
          <p:nvPr/>
        </p:nvSpPr>
        <p:spPr>
          <a:xfrm>
            <a:off x="5994400" y="4826684"/>
            <a:ext cx="115993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Monaco" pitchFamily="2" charset="77"/>
              </a:rPr>
              <a:t>00 - NOP</a:t>
            </a:r>
          </a:p>
          <a:p>
            <a:r>
              <a:rPr lang="en-US" sz="1000" dirty="0">
                <a:latin typeface="Monaco" pitchFamily="2" charset="77"/>
              </a:rPr>
              <a:t>01 – Read </a:t>
            </a:r>
          </a:p>
          <a:p>
            <a:r>
              <a:rPr lang="en-US" sz="1000" dirty="0">
                <a:latin typeface="Monaco" pitchFamily="2" charset="77"/>
              </a:rPr>
              <a:t>10 – Write </a:t>
            </a:r>
          </a:p>
          <a:p>
            <a:r>
              <a:rPr lang="en-US" sz="1000" dirty="0">
                <a:latin typeface="Monaco" pitchFamily="2" charset="77"/>
              </a:rPr>
              <a:t>11 - Compute</a:t>
            </a:r>
          </a:p>
        </p:txBody>
      </p:sp>
    </p:spTree>
    <p:extLst>
      <p:ext uri="{BB962C8B-B14F-4D97-AF65-F5344CB8AC3E}">
        <p14:creationId xmlns:p14="http://schemas.microsoft.com/office/powerpoint/2010/main" val="212532553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C3470AE-B74D-EBF6-3852-6DB315AB7C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4F03DBFA-8501-3127-844D-25BB8D1EE3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1634679-F971-2BB3-5CFB-31A102FEE5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59556"/>
            <a:ext cx="9362704" cy="1031132"/>
          </a:xfrm>
        </p:spPr>
        <p:txBody>
          <a:bodyPr>
            <a:normAutofit/>
          </a:bodyPr>
          <a:lstStyle/>
          <a:p>
            <a:r>
              <a:rPr lang="en-US" sz="3000" b="1" dirty="0"/>
              <a:t>Top Module Architecture &amp; Register Map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A012934E-E6D7-C956-032F-8613B5F5D4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sX0" fmla="*/ 0 w 10853928"/>
              <a:gd name="csY0" fmla="*/ 0 h 18288"/>
              <a:gd name="csX1" fmla="*/ 461292 w 10853928"/>
              <a:gd name="csY1" fmla="*/ 0 h 18288"/>
              <a:gd name="csX2" fmla="*/ 1139662 w 10853928"/>
              <a:gd name="csY2" fmla="*/ 0 h 18288"/>
              <a:gd name="csX3" fmla="*/ 1926572 w 10853928"/>
              <a:gd name="csY3" fmla="*/ 0 h 18288"/>
              <a:gd name="csX4" fmla="*/ 2279325 w 10853928"/>
              <a:gd name="csY4" fmla="*/ 0 h 18288"/>
              <a:gd name="csX5" fmla="*/ 2632078 w 10853928"/>
              <a:gd name="csY5" fmla="*/ 0 h 18288"/>
              <a:gd name="csX6" fmla="*/ 3527527 w 10853928"/>
              <a:gd name="csY6" fmla="*/ 0 h 18288"/>
              <a:gd name="csX7" fmla="*/ 4205897 w 10853928"/>
              <a:gd name="csY7" fmla="*/ 0 h 18288"/>
              <a:gd name="csX8" fmla="*/ 4558650 w 10853928"/>
              <a:gd name="csY8" fmla="*/ 0 h 18288"/>
              <a:gd name="csX9" fmla="*/ 5237020 w 10853928"/>
              <a:gd name="csY9" fmla="*/ 0 h 18288"/>
              <a:gd name="csX10" fmla="*/ 6132469 w 10853928"/>
              <a:gd name="csY10" fmla="*/ 0 h 18288"/>
              <a:gd name="csX11" fmla="*/ 6702301 w 10853928"/>
              <a:gd name="csY11" fmla="*/ 0 h 18288"/>
              <a:gd name="csX12" fmla="*/ 7272132 w 10853928"/>
              <a:gd name="csY12" fmla="*/ 0 h 18288"/>
              <a:gd name="csX13" fmla="*/ 7950502 w 10853928"/>
              <a:gd name="csY13" fmla="*/ 0 h 18288"/>
              <a:gd name="csX14" fmla="*/ 8737412 w 10853928"/>
              <a:gd name="csY14" fmla="*/ 0 h 18288"/>
              <a:gd name="csX15" fmla="*/ 9524322 w 10853928"/>
              <a:gd name="csY15" fmla="*/ 0 h 18288"/>
              <a:gd name="csX16" fmla="*/ 10853928 w 10853928"/>
              <a:gd name="csY16" fmla="*/ 0 h 18288"/>
              <a:gd name="csX17" fmla="*/ 10853928 w 10853928"/>
              <a:gd name="csY17" fmla="*/ 18288 h 18288"/>
              <a:gd name="csX18" fmla="*/ 10392636 w 10853928"/>
              <a:gd name="csY18" fmla="*/ 18288 h 18288"/>
              <a:gd name="csX19" fmla="*/ 9497187 w 10853928"/>
              <a:gd name="csY19" fmla="*/ 18288 h 18288"/>
              <a:gd name="csX20" fmla="*/ 8818817 w 10853928"/>
              <a:gd name="csY20" fmla="*/ 18288 h 18288"/>
              <a:gd name="csX21" fmla="*/ 8466064 w 10853928"/>
              <a:gd name="csY21" fmla="*/ 18288 h 18288"/>
              <a:gd name="csX22" fmla="*/ 7787693 w 10853928"/>
              <a:gd name="csY22" fmla="*/ 18288 h 18288"/>
              <a:gd name="csX23" fmla="*/ 7217862 w 10853928"/>
              <a:gd name="csY23" fmla="*/ 18288 h 18288"/>
              <a:gd name="csX24" fmla="*/ 6648031 w 10853928"/>
              <a:gd name="csY24" fmla="*/ 18288 h 18288"/>
              <a:gd name="csX25" fmla="*/ 6078200 w 10853928"/>
              <a:gd name="csY25" fmla="*/ 18288 h 18288"/>
              <a:gd name="csX26" fmla="*/ 5508368 w 10853928"/>
              <a:gd name="csY26" fmla="*/ 18288 h 18288"/>
              <a:gd name="csX27" fmla="*/ 4721459 w 10853928"/>
              <a:gd name="csY27" fmla="*/ 18288 h 18288"/>
              <a:gd name="csX28" fmla="*/ 4043088 w 10853928"/>
              <a:gd name="csY28" fmla="*/ 18288 h 18288"/>
              <a:gd name="csX29" fmla="*/ 3690336 w 10853928"/>
              <a:gd name="csY29" fmla="*/ 18288 h 18288"/>
              <a:gd name="csX30" fmla="*/ 3120504 w 10853928"/>
              <a:gd name="csY30" fmla="*/ 18288 h 18288"/>
              <a:gd name="csX31" fmla="*/ 2333595 w 10853928"/>
              <a:gd name="csY31" fmla="*/ 18288 h 18288"/>
              <a:gd name="csX32" fmla="*/ 1872303 w 10853928"/>
              <a:gd name="csY32" fmla="*/ 18288 h 18288"/>
              <a:gd name="csX33" fmla="*/ 976854 w 10853928"/>
              <a:gd name="csY33" fmla="*/ 18288 h 18288"/>
              <a:gd name="csX34" fmla="*/ 0 w 10853928"/>
              <a:gd name="csY34" fmla="*/ 18288 h 18288"/>
              <a:gd name="csX35" fmla="*/ 0 w 10853928"/>
              <a:gd name="csY35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Content Placeholder 4" descr="A diagram of a computer program&#10;&#10;AI-generated content may be incorrect.">
            <a:extLst>
              <a:ext uri="{FF2B5EF4-FFF2-40B4-BE49-F238E27FC236}">
                <a16:creationId xmlns:a16="http://schemas.microsoft.com/office/drawing/2014/main" id="{95EF8B43-F363-7093-6F00-82E1B86F9DE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l="6302" t="13410" r="5371" b="11615"/>
          <a:stretch>
            <a:fillRect/>
          </a:stretch>
        </p:blipFill>
        <p:spPr>
          <a:xfrm>
            <a:off x="4163058" y="1869390"/>
            <a:ext cx="3948306" cy="2307061"/>
          </a:xfr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2BA532F1-6EEF-B5A8-7D2A-B482587ABD00}"/>
              </a:ext>
            </a:extLst>
          </p:cNvPr>
          <p:cNvSpPr txBox="1"/>
          <p:nvPr/>
        </p:nvSpPr>
        <p:spPr>
          <a:xfrm>
            <a:off x="4211771" y="4245916"/>
            <a:ext cx="403377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/>
              <a:t>Figure 7</a:t>
            </a:r>
            <a:r>
              <a:rPr lang="en-US" dirty="0"/>
              <a:t>: Top Module Block Diagram</a:t>
            </a:r>
            <a:endParaRPr lang="en-US" sz="18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323DF76-3E1D-F4E5-B306-15C9359952FC}"/>
              </a:ext>
            </a:extLst>
          </p:cNvPr>
          <p:cNvSpPr txBox="1"/>
          <p:nvPr/>
        </p:nvSpPr>
        <p:spPr>
          <a:xfrm>
            <a:off x="4211771" y="6306489"/>
            <a:ext cx="39665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/>
              <a:t>Figure 8</a:t>
            </a:r>
            <a:r>
              <a:rPr lang="en-US" dirty="0"/>
              <a:t>: Register Mapping of Memory</a:t>
            </a:r>
            <a:endParaRPr lang="en-US" sz="18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EACC0F2-72B4-6EE3-0F71-0A251B0CCF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101" y="5061763"/>
            <a:ext cx="11563992" cy="11366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34914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545C448-CAD3-2A8F-388D-58D0FB3B1A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CFAA4B4-DBEA-3CCB-5E19-28904164D6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8556F70-4FCB-2249-8060-9BB9F1572D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59556"/>
            <a:ext cx="9362704" cy="1031132"/>
          </a:xfrm>
        </p:spPr>
        <p:txBody>
          <a:bodyPr>
            <a:normAutofit/>
          </a:bodyPr>
          <a:lstStyle/>
          <a:p>
            <a:r>
              <a:rPr lang="en-US" sz="3000" b="1" dirty="0"/>
              <a:t>Control Strategy 1 : Stalled Approach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8DBAECC4-3C2C-70A0-9729-F7D62F55B0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sX0" fmla="*/ 0 w 10853928"/>
              <a:gd name="csY0" fmla="*/ 0 h 18288"/>
              <a:gd name="csX1" fmla="*/ 461292 w 10853928"/>
              <a:gd name="csY1" fmla="*/ 0 h 18288"/>
              <a:gd name="csX2" fmla="*/ 1139662 w 10853928"/>
              <a:gd name="csY2" fmla="*/ 0 h 18288"/>
              <a:gd name="csX3" fmla="*/ 1926572 w 10853928"/>
              <a:gd name="csY3" fmla="*/ 0 h 18288"/>
              <a:gd name="csX4" fmla="*/ 2279325 w 10853928"/>
              <a:gd name="csY4" fmla="*/ 0 h 18288"/>
              <a:gd name="csX5" fmla="*/ 2632078 w 10853928"/>
              <a:gd name="csY5" fmla="*/ 0 h 18288"/>
              <a:gd name="csX6" fmla="*/ 3527527 w 10853928"/>
              <a:gd name="csY6" fmla="*/ 0 h 18288"/>
              <a:gd name="csX7" fmla="*/ 4205897 w 10853928"/>
              <a:gd name="csY7" fmla="*/ 0 h 18288"/>
              <a:gd name="csX8" fmla="*/ 4558650 w 10853928"/>
              <a:gd name="csY8" fmla="*/ 0 h 18288"/>
              <a:gd name="csX9" fmla="*/ 5237020 w 10853928"/>
              <a:gd name="csY9" fmla="*/ 0 h 18288"/>
              <a:gd name="csX10" fmla="*/ 6132469 w 10853928"/>
              <a:gd name="csY10" fmla="*/ 0 h 18288"/>
              <a:gd name="csX11" fmla="*/ 6702301 w 10853928"/>
              <a:gd name="csY11" fmla="*/ 0 h 18288"/>
              <a:gd name="csX12" fmla="*/ 7272132 w 10853928"/>
              <a:gd name="csY12" fmla="*/ 0 h 18288"/>
              <a:gd name="csX13" fmla="*/ 7950502 w 10853928"/>
              <a:gd name="csY13" fmla="*/ 0 h 18288"/>
              <a:gd name="csX14" fmla="*/ 8737412 w 10853928"/>
              <a:gd name="csY14" fmla="*/ 0 h 18288"/>
              <a:gd name="csX15" fmla="*/ 9524322 w 10853928"/>
              <a:gd name="csY15" fmla="*/ 0 h 18288"/>
              <a:gd name="csX16" fmla="*/ 10853928 w 10853928"/>
              <a:gd name="csY16" fmla="*/ 0 h 18288"/>
              <a:gd name="csX17" fmla="*/ 10853928 w 10853928"/>
              <a:gd name="csY17" fmla="*/ 18288 h 18288"/>
              <a:gd name="csX18" fmla="*/ 10392636 w 10853928"/>
              <a:gd name="csY18" fmla="*/ 18288 h 18288"/>
              <a:gd name="csX19" fmla="*/ 9497187 w 10853928"/>
              <a:gd name="csY19" fmla="*/ 18288 h 18288"/>
              <a:gd name="csX20" fmla="*/ 8818817 w 10853928"/>
              <a:gd name="csY20" fmla="*/ 18288 h 18288"/>
              <a:gd name="csX21" fmla="*/ 8466064 w 10853928"/>
              <a:gd name="csY21" fmla="*/ 18288 h 18288"/>
              <a:gd name="csX22" fmla="*/ 7787693 w 10853928"/>
              <a:gd name="csY22" fmla="*/ 18288 h 18288"/>
              <a:gd name="csX23" fmla="*/ 7217862 w 10853928"/>
              <a:gd name="csY23" fmla="*/ 18288 h 18288"/>
              <a:gd name="csX24" fmla="*/ 6648031 w 10853928"/>
              <a:gd name="csY24" fmla="*/ 18288 h 18288"/>
              <a:gd name="csX25" fmla="*/ 6078200 w 10853928"/>
              <a:gd name="csY25" fmla="*/ 18288 h 18288"/>
              <a:gd name="csX26" fmla="*/ 5508368 w 10853928"/>
              <a:gd name="csY26" fmla="*/ 18288 h 18288"/>
              <a:gd name="csX27" fmla="*/ 4721459 w 10853928"/>
              <a:gd name="csY27" fmla="*/ 18288 h 18288"/>
              <a:gd name="csX28" fmla="*/ 4043088 w 10853928"/>
              <a:gd name="csY28" fmla="*/ 18288 h 18288"/>
              <a:gd name="csX29" fmla="*/ 3690336 w 10853928"/>
              <a:gd name="csY29" fmla="*/ 18288 h 18288"/>
              <a:gd name="csX30" fmla="*/ 3120504 w 10853928"/>
              <a:gd name="csY30" fmla="*/ 18288 h 18288"/>
              <a:gd name="csX31" fmla="*/ 2333595 w 10853928"/>
              <a:gd name="csY31" fmla="*/ 18288 h 18288"/>
              <a:gd name="csX32" fmla="*/ 1872303 w 10853928"/>
              <a:gd name="csY32" fmla="*/ 18288 h 18288"/>
              <a:gd name="csX33" fmla="*/ 976854 w 10853928"/>
              <a:gd name="csY33" fmla="*/ 18288 h 18288"/>
              <a:gd name="csX34" fmla="*/ 0 w 10853928"/>
              <a:gd name="csY34" fmla="*/ 18288 h 18288"/>
              <a:gd name="csX35" fmla="*/ 0 w 10853928"/>
              <a:gd name="csY35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B18893A-302F-7CF6-1CB3-2C4987B6B5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54586"/>
            <a:ext cx="4614746" cy="4371058"/>
          </a:xfrm>
        </p:spPr>
        <p:txBody>
          <a:bodyPr>
            <a:normAutofit/>
          </a:bodyPr>
          <a:lstStyle/>
          <a:p>
            <a:pPr marL="0" indent="0" algn="just">
              <a:lnSpc>
                <a:spcPct val="100000"/>
              </a:lnSpc>
              <a:buNone/>
            </a:pPr>
            <a:endParaRPr lang="en-US" dirty="0"/>
          </a:p>
          <a:p>
            <a:pPr algn="just">
              <a:lnSpc>
                <a:spcPct val="100000"/>
              </a:lnSpc>
            </a:pPr>
            <a:r>
              <a:rPr lang="en-SG" sz="2400" b="1" dirty="0"/>
              <a:t>Sequential Locking:</a:t>
            </a:r>
            <a:r>
              <a:rPr lang="en-SG" sz="2400" dirty="0"/>
              <a:t> Prevents a new memory read or write while a calculation is in progress to avoid a data hazard.</a:t>
            </a:r>
          </a:p>
          <a:p>
            <a:pPr marL="0" indent="0" algn="just">
              <a:lnSpc>
                <a:spcPct val="100000"/>
              </a:lnSpc>
              <a:buNone/>
            </a:pPr>
            <a:endParaRPr lang="en-SG" sz="2400" dirty="0"/>
          </a:p>
          <a:p>
            <a:pPr algn="just">
              <a:lnSpc>
                <a:spcPct val="100000"/>
              </a:lnSpc>
            </a:pPr>
            <a:r>
              <a:rPr lang="en-SG" sz="2400" b="1" dirty="0"/>
              <a:t>Deterministic FSM: </a:t>
            </a:r>
            <a:r>
              <a:rPr lang="en-SG" sz="2400" dirty="0"/>
              <a:t>A simple, robust state machine that ensures the CPU only reads valid, finished results.</a:t>
            </a:r>
          </a:p>
        </p:txBody>
      </p:sp>
      <p:pic>
        <p:nvPicPr>
          <p:cNvPr id="6" name="Picture 5" descr="A diagram of a system&#10;&#10;AI-generated content may be incorrect.">
            <a:extLst>
              <a:ext uri="{FF2B5EF4-FFF2-40B4-BE49-F238E27FC236}">
                <a16:creationId xmlns:a16="http://schemas.microsoft.com/office/drawing/2014/main" id="{A84A57C0-8B0E-5030-5357-445C0D71AB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4187" y="2494683"/>
            <a:ext cx="5898778" cy="315580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4D252C4-DF00-5E39-B969-A1A48583EE77}"/>
              </a:ext>
            </a:extLst>
          </p:cNvPr>
          <p:cNvSpPr txBox="1"/>
          <p:nvPr/>
        </p:nvSpPr>
        <p:spPr>
          <a:xfrm>
            <a:off x="6513576" y="5829112"/>
            <a:ext cx="425989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/>
              <a:t>Figure 9</a:t>
            </a:r>
            <a:r>
              <a:rPr lang="en-US" dirty="0"/>
              <a:t>: Stalled Implementation FSM</a:t>
            </a:r>
            <a:endParaRPr lang="en-US" sz="1800" dirty="0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3A9042C7-FECD-4C5E-F9FF-FEBDE5E978DF}"/>
                  </a:ext>
                </a:extLst>
              </p14:cNvPr>
              <p14:cNvContentPartPr/>
              <p14:nvPr/>
            </p14:nvContentPartPr>
            <p14:xfrm>
              <a:off x="8158860" y="3979245"/>
              <a:ext cx="65520" cy="108000"/>
            </p14:xfrm>
          </p:contentPart>
        </mc:Choice>
        <mc:Fallback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3A9042C7-FECD-4C5E-F9FF-FEBDE5E978DF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8154540" y="3974925"/>
                <a:ext cx="74160" cy="1166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29506388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687AF40-5CA8-CFAD-38A7-72AB8F5F8C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BA737488-E642-BD74-B199-9D47712F4B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353AF6A-F189-C8E2-CDA1-93BF682126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59556"/>
            <a:ext cx="9362704" cy="1031132"/>
          </a:xfrm>
        </p:spPr>
        <p:txBody>
          <a:bodyPr>
            <a:normAutofit/>
          </a:bodyPr>
          <a:lstStyle/>
          <a:p>
            <a:r>
              <a:rPr lang="en-US" sz="3000" b="1" dirty="0"/>
              <a:t>Control Strategy 2 : Streaming (Fully Pipelined)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C3A875A-5D32-F4C4-DF59-FAE58C8FA3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sX0" fmla="*/ 0 w 10853928"/>
              <a:gd name="csY0" fmla="*/ 0 h 18288"/>
              <a:gd name="csX1" fmla="*/ 461292 w 10853928"/>
              <a:gd name="csY1" fmla="*/ 0 h 18288"/>
              <a:gd name="csX2" fmla="*/ 1139662 w 10853928"/>
              <a:gd name="csY2" fmla="*/ 0 h 18288"/>
              <a:gd name="csX3" fmla="*/ 1926572 w 10853928"/>
              <a:gd name="csY3" fmla="*/ 0 h 18288"/>
              <a:gd name="csX4" fmla="*/ 2279325 w 10853928"/>
              <a:gd name="csY4" fmla="*/ 0 h 18288"/>
              <a:gd name="csX5" fmla="*/ 2632078 w 10853928"/>
              <a:gd name="csY5" fmla="*/ 0 h 18288"/>
              <a:gd name="csX6" fmla="*/ 3527527 w 10853928"/>
              <a:gd name="csY6" fmla="*/ 0 h 18288"/>
              <a:gd name="csX7" fmla="*/ 4205897 w 10853928"/>
              <a:gd name="csY7" fmla="*/ 0 h 18288"/>
              <a:gd name="csX8" fmla="*/ 4558650 w 10853928"/>
              <a:gd name="csY8" fmla="*/ 0 h 18288"/>
              <a:gd name="csX9" fmla="*/ 5237020 w 10853928"/>
              <a:gd name="csY9" fmla="*/ 0 h 18288"/>
              <a:gd name="csX10" fmla="*/ 6132469 w 10853928"/>
              <a:gd name="csY10" fmla="*/ 0 h 18288"/>
              <a:gd name="csX11" fmla="*/ 6702301 w 10853928"/>
              <a:gd name="csY11" fmla="*/ 0 h 18288"/>
              <a:gd name="csX12" fmla="*/ 7272132 w 10853928"/>
              <a:gd name="csY12" fmla="*/ 0 h 18288"/>
              <a:gd name="csX13" fmla="*/ 7950502 w 10853928"/>
              <a:gd name="csY13" fmla="*/ 0 h 18288"/>
              <a:gd name="csX14" fmla="*/ 8737412 w 10853928"/>
              <a:gd name="csY14" fmla="*/ 0 h 18288"/>
              <a:gd name="csX15" fmla="*/ 9524322 w 10853928"/>
              <a:gd name="csY15" fmla="*/ 0 h 18288"/>
              <a:gd name="csX16" fmla="*/ 10853928 w 10853928"/>
              <a:gd name="csY16" fmla="*/ 0 h 18288"/>
              <a:gd name="csX17" fmla="*/ 10853928 w 10853928"/>
              <a:gd name="csY17" fmla="*/ 18288 h 18288"/>
              <a:gd name="csX18" fmla="*/ 10392636 w 10853928"/>
              <a:gd name="csY18" fmla="*/ 18288 h 18288"/>
              <a:gd name="csX19" fmla="*/ 9497187 w 10853928"/>
              <a:gd name="csY19" fmla="*/ 18288 h 18288"/>
              <a:gd name="csX20" fmla="*/ 8818817 w 10853928"/>
              <a:gd name="csY20" fmla="*/ 18288 h 18288"/>
              <a:gd name="csX21" fmla="*/ 8466064 w 10853928"/>
              <a:gd name="csY21" fmla="*/ 18288 h 18288"/>
              <a:gd name="csX22" fmla="*/ 7787693 w 10853928"/>
              <a:gd name="csY22" fmla="*/ 18288 h 18288"/>
              <a:gd name="csX23" fmla="*/ 7217862 w 10853928"/>
              <a:gd name="csY23" fmla="*/ 18288 h 18288"/>
              <a:gd name="csX24" fmla="*/ 6648031 w 10853928"/>
              <a:gd name="csY24" fmla="*/ 18288 h 18288"/>
              <a:gd name="csX25" fmla="*/ 6078200 w 10853928"/>
              <a:gd name="csY25" fmla="*/ 18288 h 18288"/>
              <a:gd name="csX26" fmla="*/ 5508368 w 10853928"/>
              <a:gd name="csY26" fmla="*/ 18288 h 18288"/>
              <a:gd name="csX27" fmla="*/ 4721459 w 10853928"/>
              <a:gd name="csY27" fmla="*/ 18288 h 18288"/>
              <a:gd name="csX28" fmla="*/ 4043088 w 10853928"/>
              <a:gd name="csY28" fmla="*/ 18288 h 18288"/>
              <a:gd name="csX29" fmla="*/ 3690336 w 10853928"/>
              <a:gd name="csY29" fmla="*/ 18288 h 18288"/>
              <a:gd name="csX30" fmla="*/ 3120504 w 10853928"/>
              <a:gd name="csY30" fmla="*/ 18288 h 18288"/>
              <a:gd name="csX31" fmla="*/ 2333595 w 10853928"/>
              <a:gd name="csY31" fmla="*/ 18288 h 18288"/>
              <a:gd name="csX32" fmla="*/ 1872303 w 10853928"/>
              <a:gd name="csY32" fmla="*/ 18288 h 18288"/>
              <a:gd name="csX33" fmla="*/ 976854 w 10853928"/>
              <a:gd name="csY33" fmla="*/ 18288 h 18288"/>
              <a:gd name="csX34" fmla="*/ 0 w 10853928"/>
              <a:gd name="csY34" fmla="*/ 18288 h 18288"/>
              <a:gd name="csX35" fmla="*/ 0 w 10853928"/>
              <a:gd name="csY35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995E7E-7CCC-ADA4-614E-5FE06C6EED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9035" y="2133664"/>
            <a:ext cx="4001429" cy="4276386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endParaRPr lang="en-US" dirty="0"/>
          </a:p>
          <a:p>
            <a:pPr algn="just">
              <a:lnSpc>
                <a:spcPct val="110000"/>
              </a:lnSpc>
            </a:pPr>
            <a:r>
              <a:rPr lang="en-SG" sz="2400" b="1" dirty="0"/>
              <a:t>Throughput Optimized:</a:t>
            </a:r>
            <a:r>
              <a:rPr lang="en-SG" sz="2400" dirty="0"/>
              <a:t> Removes FSM wait-states, allowing the MAC unit to produce one result per clock cycle.</a:t>
            </a:r>
          </a:p>
          <a:p>
            <a:pPr marL="0" indent="0" algn="just">
              <a:lnSpc>
                <a:spcPct val="110000"/>
              </a:lnSpc>
              <a:buNone/>
            </a:pPr>
            <a:endParaRPr lang="en-SG" sz="2400" dirty="0"/>
          </a:p>
          <a:p>
            <a:pPr algn="just">
              <a:lnSpc>
                <a:spcPct val="110000"/>
              </a:lnSpc>
            </a:pPr>
            <a:r>
              <a:rPr lang="en-SG" sz="2400" b="1" dirty="0"/>
              <a:t>Data-In-Flight Management:</a:t>
            </a:r>
            <a:r>
              <a:rPr lang="en-SG" sz="2400" dirty="0"/>
              <a:t> Logic allows the memory interface to accept new inputs while previous results are being computed.</a:t>
            </a:r>
            <a:endParaRPr lang="en-US" sz="2400" dirty="0"/>
          </a:p>
        </p:txBody>
      </p:sp>
      <p:pic>
        <p:nvPicPr>
          <p:cNvPr id="6" name="Picture 5" descr="A diagram of a diagram&#10;&#10;AI-generated content may be incorrect.">
            <a:extLst>
              <a:ext uri="{FF2B5EF4-FFF2-40B4-BE49-F238E27FC236}">
                <a16:creationId xmlns:a16="http://schemas.microsoft.com/office/drawing/2014/main" id="{BF6CFE87-9EAC-0868-E73D-AF14331AF17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429" b="11799"/>
          <a:stretch>
            <a:fillRect/>
          </a:stretch>
        </p:blipFill>
        <p:spPr>
          <a:xfrm>
            <a:off x="5452946" y="2592889"/>
            <a:ext cx="6578518" cy="301041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6988751-2B7E-3BA0-E50C-392E449E5257}"/>
              </a:ext>
            </a:extLst>
          </p:cNvPr>
          <p:cNvSpPr txBox="1"/>
          <p:nvPr/>
        </p:nvSpPr>
        <p:spPr>
          <a:xfrm>
            <a:off x="6701572" y="5722914"/>
            <a:ext cx="48213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/>
              <a:t>Figure 10</a:t>
            </a:r>
            <a:r>
              <a:rPr lang="en-US" dirty="0"/>
              <a:t>: Streaming Implementation FSM</a:t>
            </a: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295533695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D4B78E9-42BE-08C3-A3FF-979E57E1D3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2BB44479-DEC1-511B-C0F4-0F1F015000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FF4F774-C405-0464-6DCE-FADE580337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59556"/>
            <a:ext cx="9362704" cy="1031132"/>
          </a:xfrm>
        </p:spPr>
        <p:txBody>
          <a:bodyPr>
            <a:normAutofit/>
          </a:bodyPr>
          <a:lstStyle/>
          <a:p>
            <a:r>
              <a:rPr lang="en-US" sz="3000" b="1" dirty="0"/>
              <a:t>Verification : Stalled Approach Waveform Analysis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509A91C6-404F-4891-B226-48AD2D3B84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sX0" fmla="*/ 0 w 10853928"/>
              <a:gd name="csY0" fmla="*/ 0 h 18288"/>
              <a:gd name="csX1" fmla="*/ 461292 w 10853928"/>
              <a:gd name="csY1" fmla="*/ 0 h 18288"/>
              <a:gd name="csX2" fmla="*/ 1139662 w 10853928"/>
              <a:gd name="csY2" fmla="*/ 0 h 18288"/>
              <a:gd name="csX3" fmla="*/ 1926572 w 10853928"/>
              <a:gd name="csY3" fmla="*/ 0 h 18288"/>
              <a:gd name="csX4" fmla="*/ 2279325 w 10853928"/>
              <a:gd name="csY4" fmla="*/ 0 h 18288"/>
              <a:gd name="csX5" fmla="*/ 2632078 w 10853928"/>
              <a:gd name="csY5" fmla="*/ 0 h 18288"/>
              <a:gd name="csX6" fmla="*/ 3527527 w 10853928"/>
              <a:gd name="csY6" fmla="*/ 0 h 18288"/>
              <a:gd name="csX7" fmla="*/ 4205897 w 10853928"/>
              <a:gd name="csY7" fmla="*/ 0 h 18288"/>
              <a:gd name="csX8" fmla="*/ 4558650 w 10853928"/>
              <a:gd name="csY8" fmla="*/ 0 h 18288"/>
              <a:gd name="csX9" fmla="*/ 5237020 w 10853928"/>
              <a:gd name="csY9" fmla="*/ 0 h 18288"/>
              <a:gd name="csX10" fmla="*/ 6132469 w 10853928"/>
              <a:gd name="csY10" fmla="*/ 0 h 18288"/>
              <a:gd name="csX11" fmla="*/ 6702301 w 10853928"/>
              <a:gd name="csY11" fmla="*/ 0 h 18288"/>
              <a:gd name="csX12" fmla="*/ 7272132 w 10853928"/>
              <a:gd name="csY12" fmla="*/ 0 h 18288"/>
              <a:gd name="csX13" fmla="*/ 7950502 w 10853928"/>
              <a:gd name="csY13" fmla="*/ 0 h 18288"/>
              <a:gd name="csX14" fmla="*/ 8737412 w 10853928"/>
              <a:gd name="csY14" fmla="*/ 0 h 18288"/>
              <a:gd name="csX15" fmla="*/ 9524322 w 10853928"/>
              <a:gd name="csY15" fmla="*/ 0 h 18288"/>
              <a:gd name="csX16" fmla="*/ 10853928 w 10853928"/>
              <a:gd name="csY16" fmla="*/ 0 h 18288"/>
              <a:gd name="csX17" fmla="*/ 10853928 w 10853928"/>
              <a:gd name="csY17" fmla="*/ 18288 h 18288"/>
              <a:gd name="csX18" fmla="*/ 10392636 w 10853928"/>
              <a:gd name="csY18" fmla="*/ 18288 h 18288"/>
              <a:gd name="csX19" fmla="*/ 9497187 w 10853928"/>
              <a:gd name="csY19" fmla="*/ 18288 h 18288"/>
              <a:gd name="csX20" fmla="*/ 8818817 w 10853928"/>
              <a:gd name="csY20" fmla="*/ 18288 h 18288"/>
              <a:gd name="csX21" fmla="*/ 8466064 w 10853928"/>
              <a:gd name="csY21" fmla="*/ 18288 h 18288"/>
              <a:gd name="csX22" fmla="*/ 7787693 w 10853928"/>
              <a:gd name="csY22" fmla="*/ 18288 h 18288"/>
              <a:gd name="csX23" fmla="*/ 7217862 w 10853928"/>
              <a:gd name="csY23" fmla="*/ 18288 h 18288"/>
              <a:gd name="csX24" fmla="*/ 6648031 w 10853928"/>
              <a:gd name="csY24" fmla="*/ 18288 h 18288"/>
              <a:gd name="csX25" fmla="*/ 6078200 w 10853928"/>
              <a:gd name="csY25" fmla="*/ 18288 h 18288"/>
              <a:gd name="csX26" fmla="*/ 5508368 w 10853928"/>
              <a:gd name="csY26" fmla="*/ 18288 h 18288"/>
              <a:gd name="csX27" fmla="*/ 4721459 w 10853928"/>
              <a:gd name="csY27" fmla="*/ 18288 h 18288"/>
              <a:gd name="csX28" fmla="*/ 4043088 w 10853928"/>
              <a:gd name="csY28" fmla="*/ 18288 h 18288"/>
              <a:gd name="csX29" fmla="*/ 3690336 w 10853928"/>
              <a:gd name="csY29" fmla="*/ 18288 h 18288"/>
              <a:gd name="csX30" fmla="*/ 3120504 w 10853928"/>
              <a:gd name="csY30" fmla="*/ 18288 h 18288"/>
              <a:gd name="csX31" fmla="*/ 2333595 w 10853928"/>
              <a:gd name="csY31" fmla="*/ 18288 h 18288"/>
              <a:gd name="csX32" fmla="*/ 1872303 w 10853928"/>
              <a:gd name="csY32" fmla="*/ 18288 h 18288"/>
              <a:gd name="csX33" fmla="*/ 976854 w 10853928"/>
              <a:gd name="csY33" fmla="*/ 18288 h 18288"/>
              <a:gd name="csX34" fmla="*/ 0 w 10853928"/>
              <a:gd name="csY34" fmla="*/ 18288 h 18288"/>
              <a:gd name="csX35" fmla="*/ 0 w 10853928"/>
              <a:gd name="csY35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9DD8242-87BD-EEFA-0E46-6547A3B581A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/>
          <a:stretch/>
        </p:blipFill>
        <p:spPr>
          <a:xfrm>
            <a:off x="1447800" y="1847105"/>
            <a:ext cx="9105900" cy="4548893"/>
          </a:xfr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1D19A21-73B4-E21E-1F52-49B14E23E425}"/>
              </a:ext>
            </a:extLst>
          </p:cNvPr>
          <p:cNvSpPr txBox="1"/>
          <p:nvPr/>
        </p:nvSpPr>
        <p:spPr>
          <a:xfrm>
            <a:off x="3676390" y="6442333"/>
            <a:ext cx="61001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/>
              <a:t>Figure 11</a:t>
            </a:r>
            <a:r>
              <a:rPr lang="en-US" dirty="0"/>
              <a:t>: Stalled Implementation Waveform</a:t>
            </a: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67173852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3413F9A-E0AF-282C-88F9-F33DE5B837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F169B8AE-AB85-B586-751C-6160E82E7F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C151032-F716-17C3-89E0-76FCE04046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59556"/>
            <a:ext cx="10439400" cy="1031132"/>
          </a:xfrm>
        </p:spPr>
        <p:txBody>
          <a:bodyPr>
            <a:normAutofit/>
          </a:bodyPr>
          <a:lstStyle/>
          <a:p>
            <a:r>
              <a:rPr lang="en-US" sz="3000" b="1" dirty="0"/>
              <a:t>Verification : Streaming (Fully Pipelined) Waveform Analysis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8F0E5CEC-CEA9-C4E0-382B-71F9ACD5A6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sX0" fmla="*/ 0 w 10853928"/>
              <a:gd name="csY0" fmla="*/ 0 h 18288"/>
              <a:gd name="csX1" fmla="*/ 461292 w 10853928"/>
              <a:gd name="csY1" fmla="*/ 0 h 18288"/>
              <a:gd name="csX2" fmla="*/ 1139662 w 10853928"/>
              <a:gd name="csY2" fmla="*/ 0 h 18288"/>
              <a:gd name="csX3" fmla="*/ 1926572 w 10853928"/>
              <a:gd name="csY3" fmla="*/ 0 h 18288"/>
              <a:gd name="csX4" fmla="*/ 2279325 w 10853928"/>
              <a:gd name="csY4" fmla="*/ 0 h 18288"/>
              <a:gd name="csX5" fmla="*/ 2632078 w 10853928"/>
              <a:gd name="csY5" fmla="*/ 0 h 18288"/>
              <a:gd name="csX6" fmla="*/ 3527527 w 10853928"/>
              <a:gd name="csY6" fmla="*/ 0 h 18288"/>
              <a:gd name="csX7" fmla="*/ 4205897 w 10853928"/>
              <a:gd name="csY7" fmla="*/ 0 h 18288"/>
              <a:gd name="csX8" fmla="*/ 4558650 w 10853928"/>
              <a:gd name="csY8" fmla="*/ 0 h 18288"/>
              <a:gd name="csX9" fmla="*/ 5237020 w 10853928"/>
              <a:gd name="csY9" fmla="*/ 0 h 18288"/>
              <a:gd name="csX10" fmla="*/ 6132469 w 10853928"/>
              <a:gd name="csY10" fmla="*/ 0 h 18288"/>
              <a:gd name="csX11" fmla="*/ 6702301 w 10853928"/>
              <a:gd name="csY11" fmla="*/ 0 h 18288"/>
              <a:gd name="csX12" fmla="*/ 7272132 w 10853928"/>
              <a:gd name="csY12" fmla="*/ 0 h 18288"/>
              <a:gd name="csX13" fmla="*/ 7950502 w 10853928"/>
              <a:gd name="csY13" fmla="*/ 0 h 18288"/>
              <a:gd name="csX14" fmla="*/ 8737412 w 10853928"/>
              <a:gd name="csY14" fmla="*/ 0 h 18288"/>
              <a:gd name="csX15" fmla="*/ 9524322 w 10853928"/>
              <a:gd name="csY15" fmla="*/ 0 h 18288"/>
              <a:gd name="csX16" fmla="*/ 10853928 w 10853928"/>
              <a:gd name="csY16" fmla="*/ 0 h 18288"/>
              <a:gd name="csX17" fmla="*/ 10853928 w 10853928"/>
              <a:gd name="csY17" fmla="*/ 18288 h 18288"/>
              <a:gd name="csX18" fmla="*/ 10392636 w 10853928"/>
              <a:gd name="csY18" fmla="*/ 18288 h 18288"/>
              <a:gd name="csX19" fmla="*/ 9497187 w 10853928"/>
              <a:gd name="csY19" fmla="*/ 18288 h 18288"/>
              <a:gd name="csX20" fmla="*/ 8818817 w 10853928"/>
              <a:gd name="csY20" fmla="*/ 18288 h 18288"/>
              <a:gd name="csX21" fmla="*/ 8466064 w 10853928"/>
              <a:gd name="csY21" fmla="*/ 18288 h 18288"/>
              <a:gd name="csX22" fmla="*/ 7787693 w 10853928"/>
              <a:gd name="csY22" fmla="*/ 18288 h 18288"/>
              <a:gd name="csX23" fmla="*/ 7217862 w 10853928"/>
              <a:gd name="csY23" fmla="*/ 18288 h 18288"/>
              <a:gd name="csX24" fmla="*/ 6648031 w 10853928"/>
              <a:gd name="csY24" fmla="*/ 18288 h 18288"/>
              <a:gd name="csX25" fmla="*/ 6078200 w 10853928"/>
              <a:gd name="csY25" fmla="*/ 18288 h 18288"/>
              <a:gd name="csX26" fmla="*/ 5508368 w 10853928"/>
              <a:gd name="csY26" fmla="*/ 18288 h 18288"/>
              <a:gd name="csX27" fmla="*/ 4721459 w 10853928"/>
              <a:gd name="csY27" fmla="*/ 18288 h 18288"/>
              <a:gd name="csX28" fmla="*/ 4043088 w 10853928"/>
              <a:gd name="csY28" fmla="*/ 18288 h 18288"/>
              <a:gd name="csX29" fmla="*/ 3690336 w 10853928"/>
              <a:gd name="csY29" fmla="*/ 18288 h 18288"/>
              <a:gd name="csX30" fmla="*/ 3120504 w 10853928"/>
              <a:gd name="csY30" fmla="*/ 18288 h 18288"/>
              <a:gd name="csX31" fmla="*/ 2333595 w 10853928"/>
              <a:gd name="csY31" fmla="*/ 18288 h 18288"/>
              <a:gd name="csX32" fmla="*/ 1872303 w 10853928"/>
              <a:gd name="csY32" fmla="*/ 18288 h 18288"/>
              <a:gd name="csX33" fmla="*/ 976854 w 10853928"/>
              <a:gd name="csY33" fmla="*/ 18288 h 18288"/>
              <a:gd name="csX34" fmla="*/ 0 w 10853928"/>
              <a:gd name="csY34" fmla="*/ 18288 h 18288"/>
              <a:gd name="csX35" fmla="*/ 0 w 10853928"/>
              <a:gd name="csY35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3192E96-D82B-FFA3-AF5D-3A49D375BE4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/>
          <a:stretch/>
        </p:blipFill>
        <p:spPr>
          <a:xfrm>
            <a:off x="1300226" y="1834405"/>
            <a:ext cx="9545574" cy="4561619"/>
          </a:xfr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76C5B5E-BC9C-A4BE-7992-55277B224307}"/>
              </a:ext>
            </a:extLst>
          </p:cNvPr>
          <p:cNvSpPr txBox="1"/>
          <p:nvPr/>
        </p:nvSpPr>
        <p:spPr>
          <a:xfrm>
            <a:off x="3638811" y="6442346"/>
            <a:ext cx="61001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/>
              <a:t>Figure 12</a:t>
            </a:r>
            <a:r>
              <a:rPr lang="en-US" dirty="0"/>
              <a:t>: Streaming Implementation Waveform</a:t>
            </a: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35791848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04DAF61-AEC3-45C9-5EEC-90E67E5BD2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254FE615-3677-F5AC-74F8-7F37898C4F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084E0EB-CCD5-1DE3-9308-9064ADD2EC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59556"/>
            <a:ext cx="9922727" cy="1031132"/>
          </a:xfrm>
        </p:spPr>
        <p:txBody>
          <a:bodyPr>
            <a:normAutofit/>
          </a:bodyPr>
          <a:lstStyle/>
          <a:p>
            <a:r>
              <a:rPr lang="en-US" sz="3000" b="1" dirty="0"/>
              <a:t>Verification : Streaming (Fully Pipelined) </a:t>
            </a:r>
            <a:r>
              <a:rPr lang="en-US" sz="3000" b="1" dirty="0" err="1"/>
              <a:t>cocotb</a:t>
            </a:r>
            <a:r>
              <a:rPr lang="en-US" sz="3000" b="1" dirty="0"/>
              <a:t> 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08E287F1-6A25-7E2F-B46C-67001F0AD8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sX0" fmla="*/ 0 w 10853928"/>
              <a:gd name="csY0" fmla="*/ 0 h 18288"/>
              <a:gd name="csX1" fmla="*/ 461292 w 10853928"/>
              <a:gd name="csY1" fmla="*/ 0 h 18288"/>
              <a:gd name="csX2" fmla="*/ 1139662 w 10853928"/>
              <a:gd name="csY2" fmla="*/ 0 h 18288"/>
              <a:gd name="csX3" fmla="*/ 1926572 w 10853928"/>
              <a:gd name="csY3" fmla="*/ 0 h 18288"/>
              <a:gd name="csX4" fmla="*/ 2279325 w 10853928"/>
              <a:gd name="csY4" fmla="*/ 0 h 18288"/>
              <a:gd name="csX5" fmla="*/ 2632078 w 10853928"/>
              <a:gd name="csY5" fmla="*/ 0 h 18288"/>
              <a:gd name="csX6" fmla="*/ 3527527 w 10853928"/>
              <a:gd name="csY6" fmla="*/ 0 h 18288"/>
              <a:gd name="csX7" fmla="*/ 4205897 w 10853928"/>
              <a:gd name="csY7" fmla="*/ 0 h 18288"/>
              <a:gd name="csX8" fmla="*/ 4558650 w 10853928"/>
              <a:gd name="csY8" fmla="*/ 0 h 18288"/>
              <a:gd name="csX9" fmla="*/ 5237020 w 10853928"/>
              <a:gd name="csY9" fmla="*/ 0 h 18288"/>
              <a:gd name="csX10" fmla="*/ 6132469 w 10853928"/>
              <a:gd name="csY10" fmla="*/ 0 h 18288"/>
              <a:gd name="csX11" fmla="*/ 6702301 w 10853928"/>
              <a:gd name="csY11" fmla="*/ 0 h 18288"/>
              <a:gd name="csX12" fmla="*/ 7272132 w 10853928"/>
              <a:gd name="csY12" fmla="*/ 0 h 18288"/>
              <a:gd name="csX13" fmla="*/ 7950502 w 10853928"/>
              <a:gd name="csY13" fmla="*/ 0 h 18288"/>
              <a:gd name="csX14" fmla="*/ 8737412 w 10853928"/>
              <a:gd name="csY14" fmla="*/ 0 h 18288"/>
              <a:gd name="csX15" fmla="*/ 9524322 w 10853928"/>
              <a:gd name="csY15" fmla="*/ 0 h 18288"/>
              <a:gd name="csX16" fmla="*/ 10853928 w 10853928"/>
              <a:gd name="csY16" fmla="*/ 0 h 18288"/>
              <a:gd name="csX17" fmla="*/ 10853928 w 10853928"/>
              <a:gd name="csY17" fmla="*/ 18288 h 18288"/>
              <a:gd name="csX18" fmla="*/ 10392636 w 10853928"/>
              <a:gd name="csY18" fmla="*/ 18288 h 18288"/>
              <a:gd name="csX19" fmla="*/ 9497187 w 10853928"/>
              <a:gd name="csY19" fmla="*/ 18288 h 18288"/>
              <a:gd name="csX20" fmla="*/ 8818817 w 10853928"/>
              <a:gd name="csY20" fmla="*/ 18288 h 18288"/>
              <a:gd name="csX21" fmla="*/ 8466064 w 10853928"/>
              <a:gd name="csY21" fmla="*/ 18288 h 18288"/>
              <a:gd name="csX22" fmla="*/ 7787693 w 10853928"/>
              <a:gd name="csY22" fmla="*/ 18288 h 18288"/>
              <a:gd name="csX23" fmla="*/ 7217862 w 10853928"/>
              <a:gd name="csY23" fmla="*/ 18288 h 18288"/>
              <a:gd name="csX24" fmla="*/ 6648031 w 10853928"/>
              <a:gd name="csY24" fmla="*/ 18288 h 18288"/>
              <a:gd name="csX25" fmla="*/ 6078200 w 10853928"/>
              <a:gd name="csY25" fmla="*/ 18288 h 18288"/>
              <a:gd name="csX26" fmla="*/ 5508368 w 10853928"/>
              <a:gd name="csY26" fmla="*/ 18288 h 18288"/>
              <a:gd name="csX27" fmla="*/ 4721459 w 10853928"/>
              <a:gd name="csY27" fmla="*/ 18288 h 18288"/>
              <a:gd name="csX28" fmla="*/ 4043088 w 10853928"/>
              <a:gd name="csY28" fmla="*/ 18288 h 18288"/>
              <a:gd name="csX29" fmla="*/ 3690336 w 10853928"/>
              <a:gd name="csY29" fmla="*/ 18288 h 18288"/>
              <a:gd name="csX30" fmla="*/ 3120504 w 10853928"/>
              <a:gd name="csY30" fmla="*/ 18288 h 18288"/>
              <a:gd name="csX31" fmla="*/ 2333595 w 10853928"/>
              <a:gd name="csY31" fmla="*/ 18288 h 18288"/>
              <a:gd name="csX32" fmla="*/ 1872303 w 10853928"/>
              <a:gd name="csY32" fmla="*/ 18288 h 18288"/>
              <a:gd name="csX33" fmla="*/ 976854 w 10853928"/>
              <a:gd name="csY33" fmla="*/ 18288 h 18288"/>
              <a:gd name="csX34" fmla="*/ 0 w 10853928"/>
              <a:gd name="csY34" fmla="*/ 18288 h 18288"/>
              <a:gd name="csX35" fmla="*/ 0 w 10853928"/>
              <a:gd name="csY35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Content Placeholder 4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F5852A61-9495-6620-D3AD-FC876911952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2165350" y="1847087"/>
            <a:ext cx="7861300" cy="4528314"/>
          </a:xfr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ED495C4-69B0-7EA2-F08F-CB7D6891A8FD}"/>
              </a:ext>
            </a:extLst>
          </p:cNvPr>
          <p:cNvSpPr txBox="1"/>
          <p:nvPr/>
        </p:nvSpPr>
        <p:spPr>
          <a:xfrm>
            <a:off x="2937354" y="6438217"/>
            <a:ext cx="719620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/>
              <a:t>Figure 13</a:t>
            </a:r>
            <a:r>
              <a:rPr lang="en-US" dirty="0"/>
              <a:t>: </a:t>
            </a:r>
            <a:r>
              <a:rPr lang="en-SG" dirty="0" err="1"/>
              <a:t>cocotb</a:t>
            </a:r>
            <a:r>
              <a:rPr lang="en-SG" dirty="0"/>
              <a:t> Console Log – Top Module Functional Verification</a:t>
            </a: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17267200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4D3C869-41B0-2B51-5797-2F5080C81C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63E7F8E-0A74-0BC9-3383-D64AFD77E2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1254B6A-8F60-C484-C673-6962749275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59556"/>
            <a:ext cx="10439400" cy="1031132"/>
          </a:xfrm>
        </p:spPr>
        <p:txBody>
          <a:bodyPr>
            <a:normAutofit/>
          </a:bodyPr>
          <a:lstStyle/>
          <a:p>
            <a:r>
              <a:rPr lang="en-US" sz="3000" b="1" dirty="0"/>
              <a:t>Implementation Results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AE02E789-BD29-18C0-92B3-FF521E8D11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sX0" fmla="*/ 0 w 10853928"/>
              <a:gd name="csY0" fmla="*/ 0 h 18288"/>
              <a:gd name="csX1" fmla="*/ 461292 w 10853928"/>
              <a:gd name="csY1" fmla="*/ 0 h 18288"/>
              <a:gd name="csX2" fmla="*/ 1139662 w 10853928"/>
              <a:gd name="csY2" fmla="*/ 0 h 18288"/>
              <a:gd name="csX3" fmla="*/ 1926572 w 10853928"/>
              <a:gd name="csY3" fmla="*/ 0 h 18288"/>
              <a:gd name="csX4" fmla="*/ 2279325 w 10853928"/>
              <a:gd name="csY4" fmla="*/ 0 h 18288"/>
              <a:gd name="csX5" fmla="*/ 2632078 w 10853928"/>
              <a:gd name="csY5" fmla="*/ 0 h 18288"/>
              <a:gd name="csX6" fmla="*/ 3527527 w 10853928"/>
              <a:gd name="csY6" fmla="*/ 0 h 18288"/>
              <a:gd name="csX7" fmla="*/ 4205897 w 10853928"/>
              <a:gd name="csY7" fmla="*/ 0 h 18288"/>
              <a:gd name="csX8" fmla="*/ 4558650 w 10853928"/>
              <a:gd name="csY8" fmla="*/ 0 h 18288"/>
              <a:gd name="csX9" fmla="*/ 5237020 w 10853928"/>
              <a:gd name="csY9" fmla="*/ 0 h 18288"/>
              <a:gd name="csX10" fmla="*/ 6132469 w 10853928"/>
              <a:gd name="csY10" fmla="*/ 0 h 18288"/>
              <a:gd name="csX11" fmla="*/ 6702301 w 10853928"/>
              <a:gd name="csY11" fmla="*/ 0 h 18288"/>
              <a:gd name="csX12" fmla="*/ 7272132 w 10853928"/>
              <a:gd name="csY12" fmla="*/ 0 h 18288"/>
              <a:gd name="csX13" fmla="*/ 7950502 w 10853928"/>
              <a:gd name="csY13" fmla="*/ 0 h 18288"/>
              <a:gd name="csX14" fmla="*/ 8737412 w 10853928"/>
              <a:gd name="csY14" fmla="*/ 0 h 18288"/>
              <a:gd name="csX15" fmla="*/ 9524322 w 10853928"/>
              <a:gd name="csY15" fmla="*/ 0 h 18288"/>
              <a:gd name="csX16" fmla="*/ 10853928 w 10853928"/>
              <a:gd name="csY16" fmla="*/ 0 h 18288"/>
              <a:gd name="csX17" fmla="*/ 10853928 w 10853928"/>
              <a:gd name="csY17" fmla="*/ 18288 h 18288"/>
              <a:gd name="csX18" fmla="*/ 10392636 w 10853928"/>
              <a:gd name="csY18" fmla="*/ 18288 h 18288"/>
              <a:gd name="csX19" fmla="*/ 9497187 w 10853928"/>
              <a:gd name="csY19" fmla="*/ 18288 h 18288"/>
              <a:gd name="csX20" fmla="*/ 8818817 w 10853928"/>
              <a:gd name="csY20" fmla="*/ 18288 h 18288"/>
              <a:gd name="csX21" fmla="*/ 8466064 w 10853928"/>
              <a:gd name="csY21" fmla="*/ 18288 h 18288"/>
              <a:gd name="csX22" fmla="*/ 7787693 w 10853928"/>
              <a:gd name="csY22" fmla="*/ 18288 h 18288"/>
              <a:gd name="csX23" fmla="*/ 7217862 w 10853928"/>
              <a:gd name="csY23" fmla="*/ 18288 h 18288"/>
              <a:gd name="csX24" fmla="*/ 6648031 w 10853928"/>
              <a:gd name="csY24" fmla="*/ 18288 h 18288"/>
              <a:gd name="csX25" fmla="*/ 6078200 w 10853928"/>
              <a:gd name="csY25" fmla="*/ 18288 h 18288"/>
              <a:gd name="csX26" fmla="*/ 5508368 w 10853928"/>
              <a:gd name="csY26" fmla="*/ 18288 h 18288"/>
              <a:gd name="csX27" fmla="*/ 4721459 w 10853928"/>
              <a:gd name="csY27" fmla="*/ 18288 h 18288"/>
              <a:gd name="csX28" fmla="*/ 4043088 w 10853928"/>
              <a:gd name="csY28" fmla="*/ 18288 h 18288"/>
              <a:gd name="csX29" fmla="*/ 3690336 w 10853928"/>
              <a:gd name="csY29" fmla="*/ 18288 h 18288"/>
              <a:gd name="csX30" fmla="*/ 3120504 w 10853928"/>
              <a:gd name="csY30" fmla="*/ 18288 h 18288"/>
              <a:gd name="csX31" fmla="*/ 2333595 w 10853928"/>
              <a:gd name="csY31" fmla="*/ 18288 h 18288"/>
              <a:gd name="csX32" fmla="*/ 1872303 w 10853928"/>
              <a:gd name="csY32" fmla="*/ 18288 h 18288"/>
              <a:gd name="csX33" fmla="*/ 976854 w 10853928"/>
              <a:gd name="csY33" fmla="*/ 18288 h 18288"/>
              <a:gd name="csX34" fmla="*/ 0 w 10853928"/>
              <a:gd name="csY34" fmla="*/ 18288 h 18288"/>
              <a:gd name="csX35" fmla="*/ 0 w 10853928"/>
              <a:gd name="csY35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B865F6-5E90-A1F8-26E3-5748953AA4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8262" y="4766202"/>
            <a:ext cx="10499275" cy="1506115"/>
          </a:xfrm>
          <a:prstGeom prst="rect">
            <a:avLst/>
          </a:prstGeom>
        </p:spPr>
      </p:pic>
      <p:pic>
        <p:nvPicPr>
          <p:cNvPr id="7" name="Picture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9D124CD3-6512-6E32-C78C-ACD57340982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571"/>
          <a:stretch>
            <a:fillRect/>
          </a:stretch>
        </p:blipFill>
        <p:spPr>
          <a:xfrm>
            <a:off x="838199" y="1828062"/>
            <a:ext cx="10439400" cy="2573937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CE14D8B-C2F9-81D9-EC63-66570668F366}"/>
              </a:ext>
            </a:extLst>
          </p:cNvPr>
          <p:cNvSpPr txBox="1"/>
          <p:nvPr/>
        </p:nvSpPr>
        <p:spPr>
          <a:xfrm>
            <a:off x="2967102" y="4406972"/>
            <a:ext cx="618159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/>
              <a:t>Figure 14</a:t>
            </a:r>
            <a:r>
              <a:rPr lang="en-US" dirty="0"/>
              <a:t>: </a:t>
            </a:r>
            <a:r>
              <a:rPr lang="en-SG" dirty="0"/>
              <a:t>Resource Utilization – Streaming Implementation</a:t>
            </a:r>
            <a:endParaRPr lang="en-US" sz="18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B119D2F-0820-92CA-4E94-9F6FBD1EACF6}"/>
              </a:ext>
            </a:extLst>
          </p:cNvPr>
          <p:cNvSpPr txBox="1"/>
          <p:nvPr/>
        </p:nvSpPr>
        <p:spPr>
          <a:xfrm>
            <a:off x="3007813" y="6306489"/>
            <a:ext cx="61001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/>
              <a:t>Figure 15</a:t>
            </a:r>
            <a:r>
              <a:rPr lang="en-US" dirty="0"/>
              <a:t>: </a:t>
            </a:r>
            <a:r>
              <a:rPr lang="en-SG" dirty="0"/>
              <a:t>Timing Summary – Streaming Implementation</a:t>
            </a: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87178307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3F647E5-5810-F765-8B78-6B7C99ABF5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EC5F3D86-545C-2FB8-1A10-73D67D6891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C008A5A-57B7-F9C2-75FB-F26396D3A4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59556"/>
            <a:ext cx="10439400" cy="1031132"/>
          </a:xfrm>
        </p:spPr>
        <p:txBody>
          <a:bodyPr>
            <a:normAutofit/>
          </a:bodyPr>
          <a:lstStyle/>
          <a:p>
            <a:r>
              <a:rPr lang="en-US" sz="3000" b="1" dirty="0"/>
              <a:t>Task 3 : Processor Microarchitectures (Serial Architecture)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15286B3B-7F67-1FDF-299B-B5B3653D4B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sX0" fmla="*/ 0 w 10853928"/>
              <a:gd name="csY0" fmla="*/ 0 h 18288"/>
              <a:gd name="csX1" fmla="*/ 461292 w 10853928"/>
              <a:gd name="csY1" fmla="*/ 0 h 18288"/>
              <a:gd name="csX2" fmla="*/ 1139662 w 10853928"/>
              <a:gd name="csY2" fmla="*/ 0 h 18288"/>
              <a:gd name="csX3" fmla="*/ 1926572 w 10853928"/>
              <a:gd name="csY3" fmla="*/ 0 h 18288"/>
              <a:gd name="csX4" fmla="*/ 2279325 w 10853928"/>
              <a:gd name="csY4" fmla="*/ 0 h 18288"/>
              <a:gd name="csX5" fmla="*/ 2632078 w 10853928"/>
              <a:gd name="csY5" fmla="*/ 0 h 18288"/>
              <a:gd name="csX6" fmla="*/ 3527527 w 10853928"/>
              <a:gd name="csY6" fmla="*/ 0 h 18288"/>
              <a:gd name="csX7" fmla="*/ 4205897 w 10853928"/>
              <a:gd name="csY7" fmla="*/ 0 h 18288"/>
              <a:gd name="csX8" fmla="*/ 4558650 w 10853928"/>
              <a:gd name="csY8" fmla="*/ 0 h 18288"/>
              <a:gd name="csX9" fmla="*/ 5237020 w 10853928"/>
              <a:gd name="csY9" fmla="*/ 0 h 18288"/>
              <a:gd name="csX10" fmla="*/ 6132469 w 10853928"/>
              <a:gd name="csY10" fmla="*/ 0 h 18288"/>
              <a:gd name="csX11" fmla="*/ 6702301 w 10853928"/>
              <a:gd name="csY11" fmla="*/ 0 h 18288"/>
              <a:gd name="csX12" fmla="*/ 7272132 w 10853928"/>
              <a:gd name="csY12" fmla="*/ 0 h 18288"/>
              <a:gd name="csX13" fmla="*/ 7950502 w 10853928"/>
              <a:gd name="csY13" fmla="*/ 0 h 18288"/>
              <a:gd name="csX14" fmla="*/ 8737412 w 10853928"/>
              <a:gd name="csY14" fmla="*/ 0 h 18288"/>
              <a:gd name="csX15" fmla="*/ 9524322 w 10853928"/>
              <a:gd name="csY15" fmla="*/ 0 h 18288"/>
              <a:gd name="csX16" fmla="*/ 10853928 w 10853928"/>
              <a:gd name="csY16" fmla="*/ 0 h 18288"/>
              <a:gd name="csX17" fmla="*/ 10853928 w 10853928"/>
              <a:gd name="csY17" fmla="*/ 18288 h 18288"/>
              <a:gd name="csX18" fmla="*/ 10392636 w 10853928"/>
              <a:gd name="csY18" fmla="*/ 18288 h 18288"/>
              <a:gd name="csX19" fmla="*/ 9497187 w 10853928"/>
              <a:gd name="csY19" fmla="*/ 18288 h 18288"/>
              <a:gd name="csX20" fmla="*/ 8818817 w 10853928"/>
              <a:gd name="csY20" fmla="*/ 18288 h 18288"/>
              <a:gd name="csX21" fmla="*/ 8466064 w 10853928"/>
              <a:gd name="csY21" fmla="*/ 18288 h 18288"/>
              <a:gd name="csX22" fmla="*/ 7787693 w 10853928"/>
              <a:gd name="csY22" fmla="*/ 18288 h 18288"/>
              <a:gd name="csX23" fmla="*/ 7217862 w 10853928"/>
              <a:gd name="csY23" fmla="*/ 18288 h 18288"/>
              <a:gd name="csX24" fmla="*/ 6648031 w 10853928"/>
              <a:gd name="csY24" fmla="*/ 18288 h 18288"/>
              <a:gd name="csX25" fmla="*/ 6078200 w 10853928"/>
              <a:gd name="csY25" fmla="*/ 18288 h 18288"/>
              <a:gd name="csX26" fmla="*/ 5508368 w 10853928"/>
              <a:gd name="csY26" fmla="*/ 18288 h 18288"/>
              <a:gd name="csX27" fmla="*/ 4721459 w 10853928"/>
              <a:gd name="csY27" fmla="*/ 18288 h 18288"/>
              <a:gd name="csX28" fmla="*/ 4043088 w 10853928"/>
              <a:gd name="csY28" fmla="*/ 18288 h 18288"/>
              <a:gd name="csX29" fmla="*/ 3690336 w 10853928"/>
              <a:gd name="csY29" fmla="*/ 18288 h 18288"/>
              <a:gd name="csX30" fmla="*/ 3120504 w 10853928"/>
              <a:gd name="csY30" fmla="*/ 18288 h 18288"/>
              <a:gd name="csX31" fmla="*/ 2333595 w 10853928"/>
              <a:gd name="csY31" fmla="*/ 18288 h 18288"/>
              <a:gd name="csX32" fmla="*/ 1872303 w 10853928"/>
              <a:gd name="csY32" fmla="*/ 18288 h 18288"/>
              <a:gd name="csX33" fmla="*/ 976854 w 10853928"/>
              <a:gd name="csY33" fmla="*/ 18288 h 18288"/>
              <a:gd name="csX34" fmla="*/ 0 w 10853928"/>
              <a:gd name="csY34" fmla="*/ 18288 h 18288"/>
              <a:gd name="csX35" fmla="*/ 0 w 10853928"/>
              <a:gd name="csY35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A diagram of a computer&#10;&#10;AI-generated content may be incorrect.">
            <a:extLst>
              <a:ext uri="{FF2B5EF4-FFF2-40B4-BE49-F238E27FC236}">
                <a16:creationId xmlns:a16="http://schemas.microsoft.com/office/drawing/2014/main" id="{41BD7E6F-C65A-CD5F-4D14-E95799CDA2D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957" t="3878" r="5171" b="4063"/>
          <a:stretch>
            <a:fillRect/>
          </a:stretch>
        </p:blipFill>
        <p:spPr>
          <a:xfrm>
            <a:off x="643668" y="2033804"/>
            <a:ext cx="11332742" cy="404878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65A6C17-9160-141F-90E8-D37BF40264F1}"/>
              </a:ext>
            </a:extLst>
          </p:cNvPr>
          <p:cNvSpPr txBox="1"/>
          <p:nvPr/>
        </p:nvSpPr>
        <p:spPr>
          <a:xfrm>
            <a:off x="4478879" y="6198444"/>
            <a:ext cx="323119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/>
              <a:t>Figure 16</a:t>
            </a:r>
            <a:r>
              <a:rPr lang="en-US" dirty="0"/>
              <a:t>: Serial Architecture</a:t>
            </a: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205016431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0AAA4EC-CAF9-02E1-0CB2-22DCD249E5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F02BE5A9-2A6C-48DD-BBB5-0082B087CC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6D0B248-6519-3B2C-0F42-1ED8FCA126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59556"/>
            <a:ext cx="10439400" cy="1031132"/>
          </a:xfrm>
        </p:spPr>
        <p:txBody>
          <a:bodyPr>
            <a:normAutofit/>
          </a:bodyPr>
          <a:lstStyle/>
          <a:p>
            <a:r>
              <a:rPr lang="en-US" sz="3000" b="1" dirty="0"/>
              <a:t>Task 3 : Processor Microarchitectures (Pipelined Architecture)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4B3679D8-8994-BC29-0263-CFC86E9973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sX0" fmla="*/ 0 w 10853928"/>
              <a:gd name="csY0" fmla="*/ 0 h 18288"/>
              <a:gd name="csX1" fmla="*/ 461292 w 10853928"/>
              <a:gd name="csY1" fmla="*/ 0 h 18288"/>
              <a:gd name="csX2" fmla="*/ 1139662 w 10853928"/>
              <a:gd name="csY2" fmla="*/ 0 h 18288"/>
              <a:gd name="csX3" fmla="*/ 1926572 w 10853928"/>
              <a:gd name="csY3" fmla="*/ 0 h 18288"/>
              <a:gd name="csX4" fmla="*/ 2279325 w 10853928"/>
              <a:gd name="csY4" fmla="*/ 0 h 18288"/>
              <a:gd name="csX5" fmla="*/ 2632078 w 10853928"/>
              <a:gd name="csY5" fmla="*/ 0 h 18288"/>
              <a:gd name="csX6" fmla="*/ 3527527 w 10853928"/>
              <a:gd name="csY6" fmla="*/ 0 h 18288"/>
              <a:gd name="csX7" fmla="*/ 4205897 w 10853928"/>
              <a:gd name="csY7" fmla="*/ 0 h 18288"/>
              <a:gd name="csX8" fmla="*/ 4558650 w 10853928"/>
              <a:gd name="csY8" fmla="*/ 0 h 18288"/>
              <a:gd name="csX9" fmla="*/ 5237020 w 10853928"/>
              <a:gd name="csY9" fmla="*/ 0 h 18288"/>
              <a:gd name="csX10" fmla="*/ 6132469 w 10853928"/>
              <a:gd name="csY10" fmla="*/ 0 h 18288"/>
              <a:gd name="csX11" fmla="*/ 6702301 w 10853928"/>
              <a:gd name="csY11" fmla="*/ 0 h 18288"/>
              <a:gd name="csX12" fmla="*/ 7272132 w 10853928"/>
              <a:gd name="csY12" fmla="*/ 0 h 18288"/>
              <a:gd name="csX13" fmla="*/ 7950502 w 10853928"/>
              <a:gd name="csY13" fmla="*/ 0 h 18288"/>
              <a:gd name="csX14" fmla="*/ 8737412 w 10853928"/>
              <a:gd name="csY14" fmla="*/ 0 h 18288"/>
              <a:gd name="csX15" fmla="*/ 9524322 w 10853928"/>
              <a:gd name="csY15" fmla="*/ 0 h 18288"/>
              <a:gd name="csX16" fmla="*/ 10853928 w 10853928"/>
              <a:gd name="csY16" fmla="*/ 0 h 18288"/>
              <a:gd name="csX17" fmla="*/ 10853928 w 10853928"/>
              <a:gd name="csY17" fmla="*/ 18288 h 18288"/>
              <a:gd name="csX18" fmla="*/ 10392636 w 10853928"/>
              <a:gd name="csY18" fmla="*/ 18288 h 18288"/>
              <a:gd name="csX19" fmla="*/ 9497187 w 10853928"/>
              <a:gd name="csY19" fmla="*/ 18288 h 18288"/>
              <a:gd name="csX20" fmla="*/ 8818817 w 10853928"/>
              <a:gd name="csY20" fmla="*/ 18288 h 18288"/>
              <a:gd name="csX21" fmla="*/ 8466064 w 10853928"/>
              <a:gd name="csY21" fmla="*/ 18288 h 18288"/>
              <a:gd name="csX22" fmla="*/ 7787693 w 10853928"/>
              <a:gd name="csY22" fmla="*/ 18288 h 18288"/>
              <a:gd name="csX23" fmla="*/ 7217862 w 10853928"/>
              <a:gd name="csY23" fmla="*/ 18288 h 18288"/>
              <a:gd name="csX24" fmla="*/ 6648031 w 10853928"/>
              <a:gd name="csY24" fmla="*/ 18288 h 18288"/>
              <a:gd name="csX25" fmla="*/ 6078200 w 10853928"/>
              <a:gd name="csY25" fmla="*/ 18288 h 18288"/>
              <a:gd name="csX26" fmla="*/ 5508368 w 10853928"/>
              <a:gd name="csY26" fmla="*/ 18288 h 18288"/>
              <a:gd name="csX27" fmla="*/ 4721459 w 10853928"/>
              <a:gd name="csY27" fmla="*/ 18288 h 18288"/>
              <a:gd name="csX28" fmla="*/ 4043088 w 10853928"/>
              <a:gd name="csY28" fmla="*/ 18288 h 18288"/>
              <a:gd name="csX29" fmla="*/ 3690336 w 10853928"/>
              <a:gd name="csY29" fmla="*/ 18288 h 18288"/>
              <a:gd name="csX30" fmla="*/ 3120504 w 10853928"/>
              <a:gd name="csY30" fmla="*/ 18288 h 18288"/>
              <a:gd name="csX31" fmla="*/ 2333595 w 10853928"/>
              <a:gd name="csY31" fmla="*/ 18288 h 18288"/>
              <a:gd name="csX32" fmla="*/ 1872303 w 10853928"/>
              <a:gd name="csY32" fmla="*/ 18288 h 18288"/>
              <a:gd name="csX33" fmla="*/ 976854 w 10853928"/>
              <a:gd name="csY33" fmla="*/ 18288 h 18288"/>
              <a:gd name="csX34" fmla="*/ 0 w 10853928"/>
              <a:gd name="csY34" fmla="*/ 18288 h 18288"/>
              <a:gd name="csX35" fmla="*/ 0 w 10853928"/>
              <a:gd name="csY35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diagram of a computer&#10;&#10;AI-generated content may be incorrect.">
            <a:extLst>
              <a:ext uri="{FF2B5EF4-FFF2-40B4-BE49-F238E27FC236}">
                <a16:creationId xmlns:a16="http://schemas.microsoft.com/office/drawing/2014/main" id="{A01C5284-CCB4-A38C-4E43-C3F42ADCC94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608" t="6591" r="5817" b="6584"/>
          <a:stretch>
            <a:fillRect/>
          </a:stretch>
        </p:blipFill>
        <p:spPr>
          <a:xfrm>
            <a:off x="747132" y="1952848"/>
            <a:ext cx="10853928" cy="371675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66FCCBA-70E7-DE3C-E273-14CB6F7790C9}"/>
              </a:ext>
            </a:extLst>
          </p:cNvPr>
          <p:cNvSpPr txBox="1"/>
          <p:nvPr/>
        </p:nvSpPr>
        <p:spPr>
          <a:xfrm>
            <a:off x="4203005" y="5926785"/>
            <a:ext cx="34509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/>
              <a:t>Figure 17</a:t>
            </a:r>
            <a:r>
              <a:rPr lang="en-US" dirty="0"/>
              <a:t>: Pipelined Architecture </a:t>
            </a: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285035914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943CAA20-3569-4189-9E48-239A229A86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BF087E5-2863-87DA-DE15-0DC2204607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51381"/>
            <a:ext cx="10512552" cy="406654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6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THANK YOU</a:t>
            </a:r>
            <a:r>
              <a:rPr lang="en-US" sz="6600" dirty="0">
                <a:sym typeface="Wingdings" pitchFamily="2" charset="2"/>
              </a:rPr>
              <a:t> </a:t>
            </a:r>
            <a:endParaRPr lang="en-US" sz="6600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9" name="sketch line">
            <a:extLst>
              <a:ext uri="{FF2B5EF4-FFF2-40B4-BE49-F238E27FC236}">
                <a16:creationId xmlns:a16="http://schemas.microsoft.com/office/drawing/2014/main" id="{DA542B6D-E775-4832-91DC-2D20F85781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38200" y="4718595"/>
            <a:ext cx="5410200" cy="18288"/>
          </a:xfrm>
          <a:custGeom>
            <a:avLst/>
            <a:gdLst>
              <a:gd name="csX0" fmla="*/ 0 w 5410200"/>
              <a:gd name="csY0" fmla="*/ 0 h 18288"/>
              <a:gd name="csX1" fmla="*/ 568071 w 5410200"/>
              <a:gd name="csY1" fmla="*/ 0 h 18288"/>
              <a:gd name="csX2" fmla="*/ 1298448 w 5410200"/>
              <a:gd name="csY2" fmla="*/ 0 h 18288"/>
              <a:gd name="csX3" fmla="*/ 1920621 w 5410200"/>
              <a:gd name="csY3" fmla="*/ 0 h 18288"/>
              <a:gd name="csX4" fmla="*/ 2488692 w 5410200"/>
              <a:gd name="csY4" fmla="*/ 0 h 18288"/>
              <a:gd name="csX5" fmla="*/ 3219069 w 5410200"/>
              <a:gd name="csY5" fmla="*/ 0 h 18288"/>
              <a:gd name="csX6" fmla="*/ 3895344 w 5410200"/>
              <a:gd name="csY6" fmla="*/ 0 h 18288"/>
              <a:gd name="csX7" fmla="*/ 4571619 w 5410200"/>
              <a:gd name="csY7" fmla="*/ 0 h 18288"/>
              <a:gd name="csX8" fmla="*/ 5410200 w 5410200"/>
              <a:gd name="csY8" fmla="*/ 0 h 18288"/>
              <a:gd name="csX9" fmla="*/ 5410200 w 5410200"/>
              <a:gd name="csY9" fmla="*/ 18288 h 18288"/>
              <a:gd name="csX10" fmla="*/ 4842129 w 5410200"/>
              <a:gd name="csY10" fmla="*/ 18288 h 18288"/>
              <a:gd name="csX11" fmla="*/ 4328160 w 5410200"/>
              <a:gd name="csY11" fmla="*/ 18288 h 18288"/>
              <a:gd name="csX12" fmla="*/ 3597783 w 5410200"/>
              <a:gd name="csY12" fmla="*/ 18288 h 18288"/>
              <a:gd name="csX13" fmla="*/ 3029712 w 5410200"/>
              <a:gd name="csY13" fmla="*/ 18288 h 18288"/>
              <a:gd name="csX14" fmla="*/ 2299335 w 5410200"/>
              <a:gd name="csY14" fmla="*/ 18288 h 18288"/>
              <a:gd name="csX15" fmla="*/ 1514856 w 5410200"/>
              <a:gd name="csY15" fmla="*/ 18288 h 18288"/>
              <a:gd name="csX16" fmla="*/ 892683 w 5410200"/>
              <a:gd name="csY16" fmla="*/ 18288 h 18288"/>
              <a:gd name="csX17" fmla="*/ 0 w 5410200"/>
              <a:gd name="csY17" fmla="*/ 18288 h 18288"/>
              <a:gd name="csX18" fmla="*/ 0 w 5410200"/>
              <a:gd name="csY18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</a:cxnLst>
            <a:rect l="l" t="t" r="r" b="b"/>
            <a:pathLst>
              <a:path w="5410200" h="18288" fill="none" extrusionOk="0">
                <a:moveTo>
                  <a:pt x="0" y="0"/>
                </a:moveTo>
                <a:cubicBezTo>
                  <a:pt x="163050" y="-18707"/>
                  <a:pt x="319321" y="-16364"/>
                  <a:pt x="568071" y="0"/>
                </a:cubicBezTo>
                <a:cubicBezTo>
                  <a:pt x="816821" y="16364"/>
                  <a:pt x="1013224" y="-7268"/>
                  <a:pt x="1298448" y="0"/>
                </a:cubicBezTo>
                <a:cubicBezTo>
                  <a:pt x="1583672" y="7268"/>
                  <a:pt x="1631711" y="-3367"/>
                  <a:pt x="1920621" y="0"/>
                </a:cubicBezTo>
                <a:cubicBezTo>
                  <a:pt x="2209531" y="3367"/>
                  <a:pt x="2364420" y="-19184"/>
                  <a:pt x="2488692" y="0"/>
                </a:cubicBezTo>
                <a:cubicBezTo>
                  <a:pt x="2612964" y="19184"/>
                  <a:pt x="3023298" y="-34627"/>
                  <a:pt x="3219069" y="0"/>
                </a:cubicBezTo>
                <a:cubicBezTo>
                  <a:pt x="3414840" y="34627"/>
                  <a:pt x="3656810" y="24043"/>
                  <a:pt x="3895344" y="0"/>
                </a:cubicBezTo>
                <a:cubicBezTo>
                  <a:pt x="4133879" y="-24043"/>
                  <a:pt x="4393984" y="-19577"/>
                  <a:pt x="4571619" y="0"/>
                </a:cubicBezTo>
                <a:cubicBezTo>
                  <a:pt x="4749255" y="19577"/>
                  <a:pt x="5179928" y="-6281"/>
                  <a:pt x="5410200" y="0"/>
                </a:cubicBezTo>
                <a:cubicBezTo>
                  <a:pt x="5410730" y="6954"/>
                  <a:pt x="5410934" y="12839"/>
                  <a:pt x="5410200" y="18288"/>
                </a:cubicBezTo>
                <a:cubicBezTo>
                  <a:pt x="5139060" y="6751"/>
                  <a:pt x="5121593" y="31035"/>
                  <a:pt x="4842129" y="18288"/>
                </a:cubicBezTo>
                <a:cubicBezTo>
                  <a:pt x="4562665" y="5541"/>
                  <a:pt x="4448273" y="9487"/>
                  <a:pt x="4328160" y="18288"/>
                </a:cubicBezTo>
                <a:cubicBezTo>
                  <a:pt x="4208047" y="27089"/>
                  <a:pt x="3760936" y="22567"/>
                  <a:pt x="3597783" y="18288"/>
                </a:cubicBezTo>
                <a:cubicBezTo>
                  <a:pt x="3434630" y="14009"/>
                  <a:pt x="3299718" y="33213"/>
                  <a:pt x="3029712" y="18288"/>
                </a:cubicBezTo>
                <a:cubicBezTo>
                  <a:pt x="2759706" y="3363"/>
                  <a:pt x="2640159" y="27394"/>
                  <a:pt x="2299335" y="18288"/>
                </a:cubicBezTo>
                <a:cubicBezTo>
                  <a:pt x="1958511" y="9182"/>
                  <a:pt x="1801186" y="28985"/>
                  <a:pt x="1514856" y="18288"/>
                </a:cubicBezTo>
                <a:cubicBezTo>
                  <a:pt x="1228526" y="7591"/>
                  <a:pt x="1063509" y="-5305"/>
                  <a:pt x="892683" y="18288"/>
                </a:cubicBezTo>
                <a:cubicBezTo>
                  <a:pt x="721857" y="41881"/>
                  <a:pt x="186945" y="-20897"/>
                  <a:pt x="0" y="18288"/>
                </a:cubicBezTo>
                <a:cubicBezTo>
                  <a:pt x="-570" y="9279"/>
                  <a:pt x="132" y="5100"/>
                  <a:pt x="0" y="0"/>
                </a:cubicBezTo>
                <a:close/>
              </a:path>
              <a:path w="5410200" h="18288" stroke="0" extrusionOk="0">
                <a:moveTo>
                  <a:pt x="0" y="0"/>
                </a:moveTo>
                <a:cubicBezTo>
                  <a:pt x="285096" y="-4925"/>
                  <a:pt x="376456" y="22268"/>
                  <a:pt x="622173" y="0"/>
                </a:cubicBezTo>
                <a:cubicBezTo>
                  <a:pt x="867890" y="-22268"/>
                  <a:pt x="1031392" y="7228"/>
                  <a:pt x="1136142" y="0"/>
                </a:cubicBezTo>
                <a:cubicBezTo>
                  <a:pt x="1240892" y="-7228"/>
                  <a:pt x="1561853" y="9877"/>
                  <a:pt x="1920621" y="0"/>
                </a:cubicBezTo>
                <a:cubicBezTo>
                  <a:pt x="2279389" y="-9877"/>
                  <a:pt x="2367255" y="19546"/>
                  <a:pt x="2542794" y="0"/>
                </a:cubicBezTo>
                <a:cubicBezTo>
                  <a:pt x="2718333" y="-19546"/>
                  <a:pt x="2866732" y="-22226"/>
                  <a:pt x="3164967" y="0"/>
                </a:cubicBezTo>
                <a:cubicBezTo>
                  <a:pt x="3463202" y="22226"/>
                  <a:pt x="3568055" y="-2765"/>
                  <a:pt x="3949446" y="0"/>
                </a:cubicBezTo>
                <a:cubicBezTo>
                  <a:pt x="4330837" y="2765"/>
                  <a:pt x="4287895" y="10557"/>
                  <a:pt x="4517517" y="0"/>
                </a:cubicBezTo>
                <a:cubicBezTo>
                  <a:pt x="4747139" y="-10557"/>
                  <a:pt x="5149588" y="8716"/>
                  <a:pt x="5410200" y="0"/>
                </a:cubicBezTo>
                <a:cubicBezTo>
                  <a:pt x="5409517" y="5414"/>
                  <a:pt x="5409480" y="12510"/>
                  <a:pt x="5410200" y="18288"/>
                </a:cubicBezTo>
                <a:cubicBezTo>
                  <a:pt x="5163327" y="41494"/>
                  <a:pt x="5008749" y="10693"/>
                  <a:pt x="4842129" y="18288"/>
                </a:cubicBezTo>
                <a:cubicBezTo>
                  <a:pt x="4675509" y="25883"/>
                  <a:pt x="4433401" y="-615"/>
                  <a:pt x="4165854" y="18288"/>
                </a:cubicBezTo>
                <a:cubicBezTo>
                  <a:pt x="3898308" y="37191"/>
                  <a:pt x="3809032" y="-8710"/>
                  <a:pt x="3543681" y="18288"/>
                </a:cubicBezTo>
                <a:cubicBezTo>
                  <a:pt x="3278330" y="45286"/>
                  <a:pt x="3073876" y="-15917"/>
                  <a:pt x="2759202" y="18288"/>
                </a:cubicBezTo>
                <a:cubicBezTo>
                  <a:pt x="2444528" y="52493"/>
                  <a:pt x="2204144" y="3372"/>
                  <a:pt x="1974723" y="18288"/>
                </a:cubicBezTo>
                <a:cubicBezTo>
                  <a:pt x="1745302" y="33204"/>
                  <a:pt x="1602335" y="31490"/>
                  <a:pt x="1406652" y="18288"/>
                </a:cubicBezTo>
                <a:cubicBezTo>
                  <a:pt x="1210969" y="5086"/>
                  <a:pt x="923948" y="3161"/>
                  <a:pt x="730377" y="18288"/>
                </a:cubicBezTo>
                <a:cubicBezTo>
                  <a:pt x="536806" y="33415"/>
                  <a:pt x="336496" y="-141"/>
                  <a:pt x="0" y="18288"/>
                </a:cubicBezTo>
                <a:cubicBezTo>
                  <a:pt x="-306" y="11061"/>
                  <a:pt x="-655" y="7751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79F590A-63C7-3DAA-28FC-249D052E6FAE}"/>
              </a:ext>
            </a:extLst>
          </p:cNvPr>
          <p:cNvSpPr txBox="1"/>
          <p:nvPr/>
        </p:nvSpPr>
        <p:spPr>
          <a:xfrm>
            <a:off x="838200" y="4937557"/>
            <a:ext cx="60882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dirty="0" err="1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varunposimsetty@gmail.com</a:t>
            </a:r>
            <a:r>
              <a:rPr lang="en-SG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SG" dirty="0"/>
              <a:t>| </a:t>
            </a:r>
            <a:r>
              <a:rPr lang="en-SG" dirty="0" err="1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</a:t>
            </a:r>
            <a:r>
              <a:rPr lang="en-SG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/</a:t>
            </a:r>
            <a:r>
              <a:rPr lang="en-SG" dirty="0" err="1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varunposimsetty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7950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29080472-034D-BF4F-AB04-130D19188F64}">
  <we:reference id="wa200000113" version="1.0.0.0" store="en-US" storeType="OMEX"/>
  <we:alternateReferences>
    <we:reference id="wa200000113" version="1.0.0.0" store="wa200000113" storeType="OMEX"/>
  </we:alternateReferences>
  <we:properties/>
  <we:bindings/>
  <we:snapshot xmlns:r="http://schemas.openxmlformats.org/officeDocument/2006/relationships"/>
</we:webextension>
</file>

<file path=docMetadata/LabelInfo.xml><?xml version="1.0" encoding="utf-8"?>
<clbl:labelList xmlns:clbl="http://schemas.microsoft.com/office/2020/mipLabelMetadata">
  <clbl:label id="{15ce9348-be2a-462b-8fc0-e1765a9b204a}" enabled="0" method="" siteId="{15ce9348-be2a-462b-8fc0-e1765a9b204a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5775</TotalTime>
  <Words>591</Words>
  <Application>Microsoft Macintosh PowerPoint</Application>
  <PresentationFormat>Widescreen</PresentationFormat>
  <Paragraphs>87</Paragraphs>
  <Slides>18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5" baseType="lpstr">
      <vt:lpstr>Aptos</vt:lpstr>
      <vt:lpstr>Aptos Display</vt:lpstr>
      <vt:lpstr>Arial</vt:lpstr>
      <vt:lpstr>Cambria Math</vt:lpstr>
      <vt:lpstr>Monaco</vt:lpstr>
      <vt:lpstr>Wingdings</vt:lpstr>
      <vt:lpstr>Office Theme</vt:lpstr>
      <vt:lpstr>        Task Assignment Presentation </vt:lpstr>
      <vt:lpstr>Presentation Overview</vt:lpstr>
      <vt:lpstr>Task 1 : Hardware Design – The MAC Unit (Compute Core)</vt:lpstr>
      <vt:lpstr>MAC Unit Datapath &amp; Pipelined Architecture</vt:lpstr>
      <vt:lpstr>Pipeline Control and Timing</vt:lpstr>
      <vt:lpstr>Verification – Waveform Analysis</vt:lpstr>
      <vt:lpstr>Verification – cocotb (Python-based)</vt:lpstr>
      <vt:lpstr>Task 2 : System Integration – Memory Mapped Interface </vt:lpstr>
      <vt:lpstr>Top Module Architecture &amp; Register Map</vt:lpstr>
      <vt:lpstr>Control Strategy 1 : Stalled Approach</vt:lpstr>
      <vt:lpstr>Control Strategy 2 : Streaming (Fully Pipelined)</vt:lpstr>
      <vt:lpstr>Verification : Stalled Approach Waveform Analysis</vt:lpstr>
      <vt:lpstr>Verification : Streaming (Fully Pipelined) Waveform Analysis</vt:lpstr>
      <vt:lpstr>Verification : Streaming (Fully Pipelined) cocotb </vt:lpstr>
      <vt:lpstr>Implementation Results</vt:lpstr>
      <vt:lpstr>Task 3 : Processor Microarchitectures (Serial Architecture)</vt:lpstr>
      <vt:lpstr>Task 3 : Processor Microarchitectures (Pipelined Architecture)</vt:lpstr>
      <vt:lpstr>THANK YOU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#POSIMSETTY VARUN SRINIVAS#</dc:creator>
  <cp:lastModifiedBy>#POSIMSETTY VARUN SRINIVAS#</cp:lastModifiedBy>
  <cp:revision>104</cp:revision>
  <cp:lastPrinted>2026-02-08T08:45:14Z</cp:lastPrinted>
  <dcterms:created xsi:type="dcterms:W3CDTF">2026-01-20T14:02:46Z</dcterms:created>
  <dcterms:modified xsi:type="dcterms:W3CDTF">2026-02-08T18:48:44Z</dcterms:modified>
</cp:coreProperties>
</file>