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7" r:id="rId1"/>
  </p:sldMasterIdLst>
  <p:notesMasterIdLst>
    <p:notesMasterId r:id="rId20"/>
  </p:notesMasterIdLst>
  <p:sldIdLst>
    <p:sldId id="256" r:id="rId2"/>
    <p:sldId id="258" r:id="rId3"/>
    <p:sldId id="260" r:id="rId4"/>
    <p:sldId id="287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3" r:id="rId14"/>
    <p:sldId id="304" r:id="rId15"/>
    <p:sldId id="305" r:id="rId16"/>
    <p:sldId id="306" r:id="rId17"/>
    <p:sldId id="30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D17B6CB-33E8-DF47-9E41-3E592A27981A}">
          <p14:sldIdLst>
            <p14:sldId id="256"/>
            <p14:sldId id="258"/>
            <p14:sldId id="260"/>
            <p14:sldId id="287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3"/>
            <p14:sldId id="304"/>
            <p14:sldId id="305"/>
            <p14:sldId id="306"/>
            <p14:sldId id="308"/>
          </p14:sldIdLst>
        </p14:section>
        <p14:section name="Untitled Section" id="{60402F81-2AA8-6F44-B18B-313AE2A7D44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59"/>
    <p:restoredTop sz="96035"/>
  </p:normalViewPr>
  <p:slideViewPr>
    <p:cSldViewPr snapToGrid="0">
      <p:cViewPr>
        <p:scale>
          <a:sx n="111" d="100"/>
          <a:sy n="111" d="100"/>
        </p:scale>
        <p:origin x="9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7B0A1-AFDD-499B-9FFF-AB3F720B1C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DF5BFB-B7F5-48D0-8A28-176F99CA2D9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Task 1 : Hardware Design – The MAC Unit (Compute Core)</a:t>
          </a:r>
        </a:p>
      </dgm:t>
    </dgm:pt>
    <dgm:pt modelId="{D67E3ED1-179E-462B-811A-652EF193AB76}" type="parTrans" cxnId="{4A5640E0-9B5D-430A-9EA2-1833F99CE820}">
      <dgm:prSet/>
      <dgm:spPr/>
      <dgm:t>
        <a:bodyPr/>
        <a:lstStyle/>
        <a:p>
          <a:endParaRPr lang="en-US"/>
        </a:p>
      </dgm:t>
    </dgm:pt>
    <dgm:pt modelId="{98CE3B5A-FD77-4A27-90E5-A9102823E1D5}" type="sibTrans" cxnId="{4A5640E0-9B5D-430A-9EA2-1833F99CE820}">
      <dgm:prSet/>
      <dgm:spPr/>
      <dgm:t>
        <a:bodyPr/>
        <a:lstStyle/>
        <a:p>
          <a:endParaRPr lang="en-US"/>
        </a:p>
      </dgm:t>
    </dgm:pt>
    <dgm:pt modelId="{A8EEFE12-0536-4B2C-B7A7-C7814CFF1E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Task 2 : System Integration – Memory Mapped Interface</a:t>
          </a:r>
        </a:p>
      </dgm:t>
    </dgm:pt>
    <dgm:pt modelId="{F6A90730-17B0-4238-946F-9AB02269A998}" type="parTrans" cxnId="{7E2F5073-4827-4B64-8962-92E835DA08DB}">
      <dgm:prSet/>
      <dgm:spPr/>
      <dgm:t>
        <a:bodyPr/>
        <a:lstStyle/>
        <a:p>
          <a:endParaRPr lang="en-US"/>
        </a:p>
      </dgm:t>
    </dgm:pt>
    <dgm:pt modelId="{FCEBDF34-8F0C-4305-B9E4-3AC5F7F33208}" type="sibTrans" cxnId="{7E2F5073-4827-4B64-8962-92E835DA08DB}">
      <dgm:prSet/>
      <dgm:spPr/>
      <dgm:t>
        <a:bodyPr/>
        <a:lstStyle/>
        <a:p>
          <a:endParaRPr lang="en-US"/>
        </a:p>
      </dgm:t>
    </dgm:pt>
    <dgm:pt modelId="{49AA32F1-28CC-4C70-BBBB-E90C41015DC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Task 3 : Processor Microarchitecture</a:t>
          </a:r>
        </a:p>
      </dgm:t>
    </dgm:pt>
    <dgm:pt modelId="{39D8BD58-EDA6-43D8-84FF-5B023AB86FE0}" type="parTrans" cxnId="{34BF6B5F-4E68-4ED2-8715-BAD4366DAB84}">
      <dgm:prSet/>
      <dgm:spPr/>
      <dgm:t>
        <a:bodyPr/>
        <a:lstStyle/>
        <a:p>
          <a:endParaRPr lang="en-US"/>
        </a:p>
      </dgm:t>
    </dgm:pt>
    <dgm:pt modelId="{249F9575-3170-4121-B700-78797441A683}" type="sibTrans" cxnId="{34BF6B5F-4E68-4ED2-8715-BAD4366DAB84}">
      <dgm:prSet/>
      <dgm:spPr/>
      <dgm:t>
        <a:bodyPr/>
        <a:lstStyle/>
        <a:p>
          <a:endParaRPr lang="en-US"/>
        </a:p>
      </dgm:t>
    </dgm:pt>
    <dgm:pt modelId="{E1FA1037-EF85-4EF7-9D68-7E9EF4FA7B27}" type="pres">
      <dgm:prSet presAssocID="{95F7B0A1-AFDD-499B-9FFF-AB3F720B1C3C}" presName="root" presStyleCnt="0">
        <dgm:presLayoutVars>
          <dgm:dir/>
          <dgm:resizeHandles val="exact"/>
        </dgm:presLayoutVars>
      </dgm:prSet>
      <dgm:spPr/>
    </dgm:pt>
    <dgm:pt modelId="{4DBA5E2A-F8BC-4CD9-A13E-5893EC327946}" type="pres">
      <dgm:prSet presAssocID="{FEDF5BFB-B7F5-48D0-8A28-176F99CA2D93}" presName="compNode" presStyleCnt="0"/>
      <dgm:spPr/>
    </dgm:pt>
    <dgm:pt modelId="{A5F5C772-B470-41E3-A54E-0920A13ED364}" type="pres">
      <dgm:prSet presAssocID="{FEDF5BFB-B7F5-48D0-8A28-176F99CA2D93}" presName="bgRect" presStyleLbl="bgShp" presStyleIdx="0" presStyleCnt="3"/>
      <dgm:spPr/>
    </dgm:pt>
    <dgm:pt modelId="{F1F056BD-934D-4135-9FFD-298807978734}" type="pres">
      <dgm:prSet presAssocID="{FEDF5BFB-B7F5-48D0-8A28-176F99CA2D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 with solid fill"/>
        </a:ext>
      </dgm:extLst>
    </dgm:pt>
    <dgm:pt modelId="{E3C6DAE3-C7EA-45DE-A8D1-35750AAC3768}" type="pres">
      <dgm:prSet presAssocID="{FEDF5BFB-B7F5-48D0-8A28-176F99CA2D93}" presName="spaceRect" presStyleCnt="0"/>
      <dgm:spPr/>
    </dgm:pt>
    <dgm:pt modelId="{8491BE31-1D72-4272-8DEA-8D637D1A314D}" type="pres">
      <dgm:prSet presAssocID="{FEDF5BFB-B7F5-48D0-8A28-176F99CA2D93}" presName="parTx" presStyleLbl="revTx" presStyleIdx="0" presStyleCnt="3">
        <dgm:presLayoutVars>
          <dgm:chMax val="0"/>
          <dgm:chPref val="0"/>
        </dgm:presLayoutVars>
      </dgm:prSet>
      <dgm:spPr/>
    </dgm:pt>
    <dgm:pt modelId="{D29844C3-A428-4F1D-AFAC-C1F0CDC2091C}" type="pres">
      <dgm:prSet presAssocID="{98CE3B5A-FD77-4A27-90E5-A9102823E1D5}" presName="sibTrans" presStyleCnt="0"/>
      <dgm:spPr/>
    </dgm:pt>
    <dgm:pt modelId="{2876AE2A-4532-48BA-8768-2AB01240207F}" type="pres">
      <dgm:prSet presAssocID="{A8EEFE12-0536-4B2C-B7A7-C7814CFF1EAE}" presName="compNode" presStyleCnt="0"/>
      <dgm:spPr/>
    </dgm:pt>
    <dgm:pt modelId="{CC1F57E1-1E84-4444-ACE8-EA714A9AC864}" type="pres">
      <dgm:prSet presAssocID="{A8EEFE12-0536-4B2C-B7A7-C7814CFF1EAE}" presName="bgRect" presStyleLbl="bgShp" presStyleIdx="1" presStyleCnt="3"/>
      <dgm:spPr/>
    </dgm:pt>
    <dgm:pt modelId="{DA3E1C5A-83B9-4B31-8158-B3B254152359}" type="pres">
      <dgm:prSet presAssocID="{A8EEFE12-0536-4B2C-B7A7-C7814CFF1E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 with solid fill"/>
        </a:ext>
      </dgm:extLst>
    </dgm:pt>
    <dgm:pt modelId="{6A1454E3-6370-4D49-9004-4B2A790B59CD}" type="pres">
      <dgm:prSet presAssocID="{A8EEFE12-0536-4B2C-B7A7-C7814CFF1EAE}" presName="spaceRect" presStyleCnt="0"/>
      <dgm:spPr/>
    </dgm:pt>
    <dgm:pt modelId="{1FAB67D1-1267-494F-9A28-55EFD35318E4}" type="pres">
      <dgm:prSet presAssocID="{A8EEFE12-0536-4B2C-B7A7-C7814CFF1EAE}" presName="parTx" presStyleLbl="revTx" presStyleIdx="1" presStyleCnt="3">
        <dgm:presLayoutVars>
          <dgm:chMax val="0"/>
          <dgm:chPref val="0"/>
        </dgm:presLayoutVars>
      </dgm:prSet>
      <dgm:spPr/>
    </dgm:pt>
    <dgm:pt modelId="{AD56078A-3A30-49B0-BB81-91F8B7C72AA4}" type="pres">
      <dgm:prSet presAssocID="{FCEBDF34-8F0C-4305-B9E4-3AC5F7F33208}" presName="sibTrans" presStyleCnt="0"/>
      <dgm:spPr/>
    </dgm:pt>
    <dgm:pt modelId="{6EDE4B49-9115-4CA8-8D65-57A2BAE172A7}" type="pres">
      <dgm:prSet presAssocID="{49AA32F1-28CC-4C70-BBBB-E90C41015DC4}" presName="compNode" presStyleCnt="0"/>
      <dgm:spPr/>
    </dgm:pt>
    <dgm:pt modelId="{C0C6D519-8989-486B-80BF-4E798EF94F83}" type="pres">
      <dgm:prSet presAssocID="{49AA32F1-28CC-4C70-BBBB-E90C41015DC4}" presName="bgRect" presStyleLbl="bgShp" presStyleIdx="2" presStyleCnt="3"/>
      <dgm:spPr/>
    </dgm:pt>
    <dgm:pt modelId="{7F502C67-89B6-4251-A220-A21F32579E33}" type="pres">
      <dgm:prSet presAssocID="{49AA32F1-28CC-4C70-BBBB-E90C41015D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 with solid fill"/>
        </a:ext>
      </dgm:extLst>
    </dgm:pt>
    <dgm:pt modelId="{7414010F-A893-448B-A37A-5523DF70AF82}" type="pres">
      <dgm:prSet presAssocID="{49AA32F1-28CC-4C70-BBBB-E90C41015DC4}" presName="spaceRect" presStyleCnt="0"/>
      <dgm:spPr/>
    </dgm:pt>
    <dgm:pt modelId="{DF453FD9-5A36-42C2-8C72-A09F655873E6}" type="pres">
      <dgm:prSet presAssocID="{49AA32F1-28CC-4C70-BBBB-E90C41015DC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3F4C4F-A197-4DE4-9B80-56B30007230F}" type="presOf" srcId="{A8EEFE12-0536-4B2C-B7A7-C7814CFF1EAE}" destId="{1FAB67D1-1267-494F-9A28-55EFD35318E4}" srcOrd="0" destOrd="0" presId="urn:microsoft.com/office/officeart/2018/2/layout/IconVerticalSolidList"/>
    <dgm:cxn modelId="{34BF6B5F-4E68-4ED2-8715-BAD4366DAB84}" srcId="{95F7B0A1-AFDD-499B-9FFF-AB3F720B1C3C}" destId="{49AA32F1-28CC-4C70-BBBB-E90C41015DC4}" srcOrd="2" destOrd="0" parTransId="{39D8BD58-EDA6-43D8-84FF-5B023AB86FE0}" sibTransId="{249F9575-3170-4121-B700-78797441A683}"/>
    <dgm:cxn modelId="{7E2F5073-4827-4B64-8962-92E835DA08DB}" srcId="{95F7B0A1-AFDD-499B-9FFF-AB3F720B1C3C}" destId="{A8EEFE12-0536-4B2C-B7A7-C7814CFF1EAE}" srcOrd="1" destOrd="0" parTransId="{F6A90730-17B0-4238-946F-9AB02269A998}" sibTransId="{FCEBDF34-8F0C-4305-B9E4-3AC5F7F33208}"/>
    <dgm:cxn modelId="{C49731B1-AE02-4BF0-A156-C08923954BCE}" type="presOf" srcId="{95F7B0A1-AFDD-499B-9FFF-AB3F720B1C3C}" destId="{E1FA1037-EF85-4EF7-9D68-7E9EF4FA7B27}" srcOrd="0" destOrd="0" presId="urn:microsoft.com/office/officeart/2018/2/layout/IconVerticalSolidList"/>
    <dgm:cxn modelId="{9DC8BABF-5318-4FEF-B128-23AA735CF5FD}" type="presOf" srcId="{FEDF5BFB-B7F5-48D0-8A28-176F99CA2D93}" destId="{8491BE31-1D72-4272-8DEA-8D637D1A314D}" srcOrd="0" destOrd="0" presId="urn:microsoft.com/office/officeart/2018/2/layout/IconVerticalSolidList"/>
    <dgm:cxn modelId="{4A5640E0-9B5D-430A-9EA2-1833F99CE820}" srcId="{95F7B0A1-AFDD-499B-9FFF-AB3F720B1C3C}" destId="{FEDF5BFB-B7F5-48D0-8A28-176F99CA2D93}" srcOrd="0" destOrd="0" parTransId="{D67E3ED1-179E-462B-811A-652EF193AB76}" sibTransId="{98CE3B5A-FD77-4A27-90E5-A9102823E1D5}"/>
    <dgm:cxn modelId="{60EA1EE2-12F1-4481-9AB2-1AE642CEF921}" type="presOf" srcId="{49AA32F1-28CC-4C70-BBBB-E90C41015DC4}" destId="{DF453FD9-5A36-42C2-8C72-A09F655873E6}" srcOrd="0" destOrd="0" presId="urn:microsoft.com/office/officeart/2018/2/layout/IconVerticalSolidList"/>
    <dgm:cxn modelId="{05588886-6F16-49E7-A69E-8EA118A54CB7}" type="presParOf" srcId="{E1FA1037-EF85-4EF7-9D68-7E9EF4FA7B27}" destId="{4DBA5E2A-F8BC-4CD9-A13E-5893EC327946}" srcOrd="0" destOrd="0" presId="urn:microsoft.com/office/officeart/2018/2/layout/IconVerticalSolidList"/>
    <dgm:cxn modelId="{25A5D6E7-587D-46EF-B435-E5063C990E3B}" type="presParOf" srcId="{4DBA5E2A-F8BC-4CD9-A13E-5893EC327946}" destId="{A5F5C772-B470-41E3-A54E-0920A13ED364}" srcOrd="0" destOrd="0" presId="urn:microsoft.com/office/officeart/2018/2/layout/IconVerticalSolidList"/>
    <dgm:cxn modelId="{D6A9472E-962C-4B70-80D8-4F802B2ED3FC}" type="presParOf" srcId="{4DBA5E2A-F8BC-4CD9-A13E-5893EC327946}" destId="{F1F056BD-934D-4135-9FFD-298807978734}" srcOrd="1" destOrd="0" presId="urn:microsoft.com/office/officeart/2018/2/layout/IconVerticalSolidList"/>
    <dgm:cxn modelId="{E18E141E-C402-4B94-9DE0-122A8A6BF7A8}" type="presParOf" srcId="{4DBA5E2A-F8BC-4CD9-A13E-5893EC327946}" destId="{E3C6DAE3-C7EA-45DE-A8D1-35750AAC3768}" srcOrd="2" destOrd="0" presId="urn:microsoft.com/office/officeart/2018/2/layout/IconVerticalSolidList"/>
    <dgm:cxn modelId="{2B56B61C-C9BC-43D4-96DD-0E78608C7EC3}" type="presParOf" srcId="{4DBA5E2A-F8BC-4CD9-A13E-5893EC327946}" destId="{8491BE31-1D72-4272-8DEA-8D637D1A314D}" srcOrd="3" destOrd="0" presId="urn:microsoft.com/office/officeart/2018/2/layout/IconVerticalSolidList"/>
    <dgm:cxn modelId="{368C1B0D-8094-4EBB-9ECC-FBEC17B3767F}" type="presParOf" srcId="{E1FA1037-EF85-4EF7-9D68-7E9EF4FA7B27}" destId="{D29844C3-A428-4F1D-AFAC-C1F0CDC2091C}" srcOrd="1" destOrd="0" presId="urn:microsoft.com/office/officeart/2018/2/layout/IconVerticalSolidList"/>
    <dgm:cxn modelId="{F327F1EE-0DD9-4408-8C6D-9176227CBBD0}" type="presParOf" srcId="{E1FA1037-EF85-4EF7-9D68-7E9EF4FA7B27}" destId="{2876AE2A-4532-48BA-8768-2AB01240207F}" srcOrd="2" destOrd="0" presId="urn:microsoft.com/office/officeart/2018/2/layout/IconVerticalSolidList"/>
    <dgm:cxn modelId="{9745B7DA-5527-42F5-8B09-FC8A20FDDBFD}" type="presParOf" srcId="{2876AE2A-4532-48BA-8768-2AB01240207F}" destId="{CC1F57E1-1E84-4444-ACE8-EA714A9AC864}" srcOrd="0" destOrd="0" presId="urn:microsoft.com/office/officeart/2018/2/layout/IconVerticalSolidList"/>
    <dgm:cxn modelId="{E82387F5-ABE8-4EBA-BE11-B1BAD226E397}" type="presParOf" srcId="{2876AE2A-4532-48BA-8768-2AB01240207F}" destId="{DA3E1C5A-83B9-4B31-8158-B3B254152359}" srcOrd="1" destOrd="0" presId="urn:microsoft.com/office/officeart/2018/2/layout/IconVerticalSolidList"/>
    <dgm:cxn modelId="{6B8BCB71-4AF5-4525-A3FB-242657D17087}" type="presParOf" srcId="{2876AE2A-4532-48BA-8768-2AB01240207F}" destId="{6A1454E3-6370-4D49-9004-4B2A790B59CD}" srcOrd="2" destOrd="0" presId="urn:microsoft.com/office/officeart/2018/2/layout/IconVerticalSolidList"/>
    <dgm:cxn modelId="{BE3CF96D-DDCC-48D9-B42D-99350E82CA1B}" type="presParOf" srcId="{2876AE2A-4532-48BA-8768-2AB01240207F}" destId="{1FAB67D1-1267-494F-9A28-55EFD35318E4}" srcOrd="3" destOrd="0" presId="urn:microsoft.com/office/officeart/2018/2/layout/IconVerticalSolidList"/>
    <dgm:cxn modelId="{382E08B1-163A-45E6-BB53-953BB417B4A7}" type="presParOf" srcId="{E1FA1037-EF85-4EF7-9D68-7E9EF4FA7B27}" destId="{AD56078A-3A30-49B0-BB81-91F8B7C72AA4}" srcOrd="3" destOrd="0" presId="urn:microsoft.com/office/officeart/2018/2/layout/IconVerticalSolidList"/>
    <dgm:cxn modelId="{9BF52FE4-0B8D-4EA2-81DF-87CA021D0146}" type="presParOf" srcId="{E1FA1037-EF85-4EF7-9D68-7E9EF4FA7B27}" destId="{6EDE4B49-9115-4CA8-8D65-57A2BAE172A7}" srcOrd="4" destOrd="0" presId="urn:microsoft.com/office/officeart/2018/2/layout/IconVerticalSolidList"/>
    <dgm:cxn modelId="{AE8DBF6F-4EAE-44A9-B757-D4BDA2E11C2B}" type="presParOf" srcId="{6EDE4B49-9115-4CA8-8D65-57A2BAE172A7}" destId="{C0C6D519-8989-486B-80BF-4E798EF94F83}" srcOrd="0" destOrd="0" presId="urn:microsoft.com/office/officeart/2018/2/layout/IconVerticalSolidList"/>
    <dgm:cxn modelId="{CD8223D5-28EB-40E4-BA26-C68ED86168D6}" type="presParOf" srcId="{6EDE4B49-9115-4CA8-8D65-57A2BAE172A7}" destId="{7F502C67-89B6-4251-A220-A21F32579E33}" srcOrd="1" destOrd="0" presId="urn:microsoft.com/office/officeart/2018/2/layout/IconVerticalSolidList"/>
    <dgm:cxn modelId="{7CD4DE0F-EC76-43E3-A454-9D6FA24F3251}" type="presParOf" srcId="{6EDE4B49-9115-4CA8-8D65-57A2BAE172A7}" destId="{7414010F-A893-448B-A37A-5523DF70AF82}" srcOrd="2" destOrd="0" presId="urn:microsoft.com/office/officeart/2018/2/layout/IconVerticalSolidList"/>
    <dgm:cxn modelId="{6D089936-810E-40FA-8A39-194D24A54DBF}" type="presParOf" srcId="{6EDE4B49-9115-4CA8-8D65-57A2BAE172A7}" destId="{DF453FD9-5A36-42C2-8C72-A09F655873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5C772-B470-41E3-A54E-0920A13ED364}">
      <dsp:nvSpPr>
        <dsp:cNvPr id="0" name=""/>
        <dsp:cNvSpPr/>
      </dsp:nvSpPr>
      <dsp:spPr>
        <a:xfrm>
          <a:off x="0" y="519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056BD-934D-4135-9FFD-298807978734}">
      <dsp:nvSpPr>
        <dsp:cNvPr id="0" name=""/>
        <dsp:cNvSpPr/>
      </dsp:nvSpPr>
      <dsp:spPr>
        <a:xfrm>
          <a:off x="367401" y="273792"/>
          <a:ext cx="668002" cy="6680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1BE31-1D72-4272-8DEA-8D637D1A314D}">
      <dsp:nvSpPr>
        <dsp:cNvPr id="0" name=""/>
        <dsp:cNvSpPr/>
      </dsp:nvSpPr>
      <dsp:spPr>
        <a:xfrm>
          <a:off x="1402804" y="519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Task 1 : Hardware Design – The MAC Unit (Compute Core)</a:t>
          </a:r>
        </a:p>
      </dsp:txBody>
      <dsp:txXfrm>
        <a:off x="1402804" y="519"/>
        <a:ext cx="9112795" cy="1214549"/>
      </dsp:txXfrm>
    </dsp:sp>
    <dsp:sp modelId="{CC1F57E1-1E84-4444-ACE8-EA714A9AC864}">
      <dsp:nvSpPr>
        <dsp:cNvPr id="0" name=""/>
        <dsp:cNvSpPr/>
      </dsp:nvSpPr>
      <dsp:spPr>
        <a:xfrm>
          <a:off x="0" y="1518705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E1C5A-83B9-4B31-8158-B3B254152359}">
      <dsp:nvSpPr>
        <dsp:cNvPr id="0" name=""/>
        <dsp:cNvSpPr/>
      </dsp:nvSpPr>
      <dsp:spPr>
        <a:xfrm>
          <a:off x="367401" y="1791978"/>
          <a:ext cx="668002" cy="6680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B67D1-1267-494F-9A28-55EFD35318E4}">
      <dsp:nvSpPr>
        <dsp:cNvPr id="0" name=""/>
        <dsp:cNvSpPr/>
      </dsp:nvSpPr>
      <dsp:spPr>
        <a:xfrm>
          <a:off x="1402804" y="1518705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Task 2 : System Integration – Memory Mapped Interface</a:t>
          </a:r>
        </a:p>
      </dsp:txBody>
      <dsp:txXfrm>
        <a:off x="1402804" y="1518705"/>
        <a:ext cx="9112795" cy="1214549"/>
      </dsp:txXfrm>
    </dsp:sp>
    <dsp:sp modelId="{C0C6D519-8989-486B-80BF-4E798EF94F83}">
      <dsp:nvSpPr>
        <dsp:cNvPr id="0" name=""/>
        <dsp:cNvSpPr/>
      </dsp:nvSpPr>
      <dsp:spPr>
        <a:xfrm>
          <a:off x="0" y="3036891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02C67-89B6-4251-A220-A21F32579E33}">
      <dsp:nvSpPr>
        <dsp:cNvPr id="0" name=""/>
        <dsp:cNvSpPr/>
      </dsp:nvSpPr>
      <dsp:spPr>
        <a:xfrm>
          <a:off x="367401" y="3310165"/>
          <a:ext cx="668002" cy="6680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53FD9-5A36-42C2-8C72-A09F655873E6}">
      <dsp:nvSpPr>
        <dsp:cNvPr id="0" name=""/>
        <dsp:cNvSpPr/>
      </dsp:nvSpPr>
      <dsp:spPr>
        <a:xfrm>
          <a:off x="1402804" y="3036891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Task 3 : Processor Microarchitecture</a:t>
          </a:r>
        </a:p>
      </dsp:txBody>
      <dsp:txXfrm>
        <a:off x="1402804" y="3036891"/>
        <a:ext cx="9112795" cy="1214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95F86-F6F8-3842-A882-60577278DFBB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D9FAE-0FA4-A245-9E8C-02555B704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6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8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90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E1DD-35C2-8B3D-2E04-AB0078E3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16D07-A419-073E-650E-C3A6D4316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341F2-6CAF-371B-20A2-EF80522AD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281E7-D853-AA9B-22BF-2E598B768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49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EDF3-4922-B232-EEEF-615F6DEC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A9975-5EFF-DDE8-716E-775E15C78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67821-592C-C88A-3C65-09ADB2A28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ACC6B-A2CB-43BC-C528-A9D6D916C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88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7C39-6FC7-5351-89DA-26590BE9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E8687-EA31-4CF0-DBBD-178D7ADE9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C9BA6-8B53-BFC4-2856-55CED4BA1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CDFB-9B42-5B3E-E1EC-B3361CAF9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89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A84DB-C04F-1A4E-F906-77EDE4C2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BECA3-83BB-AFC6-6CE2-45E09077E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EC25E-F62A-5AED-6536-09B4971BD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B2728-ED2D-5660-9821-D68003566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5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F1D7-32C5-D398-69D8-EE778E41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9434B-F3E6-1123-7C4D-94415529D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9A315-320F-D8D8-022F-6E2B3612D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DBB32-71C7-0451-82F4-65056B5B4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46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DB58-FDBB-7809-52C4-D68DF8F3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768CD-C6F3-0A6D-FA14-E8537E751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81D39-4B23-525A-9142-02D6E6441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1435-91B8-B70A-8441-C8989A3DB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20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0984-DCCB-9C36-FFA1-6883B169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3E9D9-F48A-1581-8A2E-275BB370E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35010-D7BF-C0D1-84D9-44307293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AA202-91F1-EAF2-CC76-0E9C59781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0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FE63-C55F-3A36-BCD3-1B05052B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21E2D-13F1-AFA1-F185-5CA8488F8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28080-40AF-AAEB-FA6D-1532B0AB2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5849-3B1A-D47D-FD72-2749E5AA9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7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195-46FF-D29F-C028-1E4D8C122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1A3A3-D45F-E35E-058E-A667C34E9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76EAE-6FDB-B390-5EA9-3FD81B067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3BF3-0921-47CE-BA19-B8C924BC1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55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2A96-B5A3-078A-5B47-DE7F5133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9E740-46D9-29A5-3DB4-D372FAB0D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EC92C-281B-64FC-BA02-2892C6F9B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45CF3-ECE3-8222-4C0C-300C6CD43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68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E62BF-984E-4CC5-91AA-995DAD8E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11196-3862-8666-15E7-D92F78F13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06B51-C337-B941-C0B6-6C902739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79D53-DF90-2A0A-9230-3CA93A6E7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2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ED70-6126-2CD1-FB56-DC743882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7C5CE-6FEF-04C9-B52A-56F513B65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69BEA-1B57-E5D5-DC9D-CD5E49CBF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BFF30-B8F5-B4F1-438C-5D68F5452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0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F045-27A3-B0AF-20C8-05E77601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870FB-A897-331C-2754-3300C6C75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309B-4E43-7063-A3EA-51557D00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6E8B-A1BA-1047-4A43-D8CA4F10F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D9FAE-0FA4-A245-9E8C-02555B7049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6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0A77-0C30-FAF8-1F14-D70E1133C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C6C1-0497-FE1A-4134-51DE7758E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710F-667A-0658-5849-8FE72595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E9A84-D4F1-C761-3D46-5932B782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9C162-39D0-772C-8CA3-51153943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0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4088-0BAC-D198-6167-D0708F5E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5E1B-C691-814E-BF87-C78BB4C7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DE3C9-F956-19A2-2ABD-B597982C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16725-30B4-F303-74B5-3B0AC3F0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11261-1583-CE22-4266-EC29340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0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0EFB-C989-C7C6-B136-FF577E4F0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CEFB2-B016-92A0-CCE1-34EC30ADC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9089-9081-73E5-F186-3515403D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0BA6-9A0D-62E7-5E94-BDF6C74E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8A47D-0CB4-5234-88B4-90B929CF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9EC9-ADA2-7029-F638-3DB3E0A9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47FEA-D521-C97E-163A-67ED7732E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27801-F11E-E917-8BCD-68DD0B6AA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A7990-E360-3788-2453-600DC55AE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1A57-5D8D-7593-5FDB-8AA93EA8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2368-ECFF-D661-74FB-BBC7F4DB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C4B4-3B4E-7790-0E6C-DFBD4489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97775-E100-9840-87D1-14571F6AB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62AD5-327B-8007-8B2C-49B660925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8D868-9742-44E8-D716-9A35388B7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43987-D333-69B5-2BE3-F40C840FA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5482C-E509-073C-360F-6CEB8BFB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E42E3-9AD2-D5FE-4DF2-38D46D6B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9D001-2999-A19C-9507-F54231E5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3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7096-4AC7-C521-9A34-D9C86C32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F7EA3-DBC1-200B-C700-7981DB6E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D221-C57F-7A62-64A9-8813A04F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515E8-02E5-B4A1-73D7-92E047D3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5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01C6D-E33B-B349-E6BB-646E7E47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61E34-877C-B4B7-5CB4-11C5B10C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3CB54-6702-D211-1BB2-0515289F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870A-590B-1E3D-BB40-3C85F1B8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C015C-B459-DFF4-1B62-D173D109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389E8-92F1-7686-9787-BD6E0181B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89513-6B75-F1E6-D608-40E1B12C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0E6B7-9A31-A547-38E8-6A53241F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E8D06-C958-FC4F-4F30-F6073BE9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9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84F9-6B8C-80C9-9F24-2E2299CA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9C540-4BDF-F053-07E7-66F73FDEF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1A0E9-50BD-78BC-8292-4EB88E8B0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F3898-A1F6-9DD4-8FBB-D80AC42E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0DC8F-CA14-FD52-D064-1E950D387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143ED-4C0A-3F1F-6DAA-08C2A424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5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5068-E28F-D956-B892-49AD4F93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DE1A0-F890-44C4-1F66-D3575E0D2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841EE-A84D-C8F6-7D83-80FFD21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5391B-3E15-62F1-FFC4-7CCA52B9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AF959-E78E-9BF5-CBFE-75F6394A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3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9E29D6-9A0D-4714-A501-9A729307C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5346C-0858-156F-CB14-1317A1207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93C1-BEA4-2C23-EF61-78C8D0A8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8C3CC-2DB7-4D7D-317C-6B36A65C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ECA41-26FD-8D8F-41B6-287BEF6D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7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5CFDA-5CBB-FA2E-1CC7-CCDFDF00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C189-7105-6EB2-4127-22CB36734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F67EC-C747-078E-3998-6B8CBD92C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C4888-2709-FB4B-9A0E-0F33131364B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4BC6-189D-1DBD-05FA-CB9233A6F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A03B-7C43-D984-CDA8-77441420D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3B62B-0399-9244-A3AC-06D36569A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4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varunposimsetty" TargetMode="External"/><Relationship Id="rId2" Type="http://schemas.openxmlformats.org/officeDocument/2006/relationships/hyperlink" Target="http://varunposimsetty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1D282-E7AC-DA1B-5C2D-6C60EC249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3502152"/>
            <a:ext cx="8817078" cy="1863311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br>
              <a:rPr lang="en-US" sz="6600" dirty="0"/>
            </a:br>
            <a:r>
              <a:rPr lang="en-US" sz="6600" dirty="0"/>
              <a:t>Task Assignment Presentation</a:t>
            </a:r>
            <a:br>
              <a:rPr lang="en-US" sz="6600" dirty="0"/>
            </a:b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16BD6-30C8-9B61-BEF8-FFEF52E0F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59863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Varun Srinivas Posimsetty</a:t>
            </a:r>
          </a:p>
          <a:p>
            <a:pPr algn="l"/>
            <a:r>
              <a:rPr lang="en-US" dirty="0"/>
              <a:t>M.Sc. Integrated Circuit Design </a:t>
            </a:r>
            <a:r>
              <a:rPr lang="en-SG" dirty="0"/>
              <a:t>(TUM &amp; NTU)</a:t>
            </a:r>
            <a:r>
              <a:rPr lang="en-US" dirty="0"/>
              <a:t> </a:t>
            </a:r>
          </a:p>
          <a:p>
            <a:pPr algn="l"/>
            <a:r>
              <a:rPr lang="en-SG" dirty="0"/>
              <a:t>Interview for: Junior Scientist – Edge-AI Accelerators</a:t>
            </a:r>
            <a:endParaRPr lang="en-US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7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7ED36-E037-6ED0-60CF-2B57E6A7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Presentation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CFF1019-9EAD-937A-D986-23109F128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497943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38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5D2DC-7544-E275-2A1C-E5B225CE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3BF07-71D7-D858-83C7-9108AC4E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1742"/>
            <a:ext cx="9715204" cy="1109883"/>
          </a:xfrm>
        </p:spPr>
        <p:txBody>
          <a:bodyPr anchor="b">
            <a:normAutofit/>
          </a:bodyPr>
          <a:lstStyle/>
          <a:p>
            <a:r>
              <a:rPr lang="en-US" sz="3000" b="1" dirty="0"/>
              <a:t>Task 1 : Hardware Design – The MAC Unit (Compute Core)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0831F1-746F-6B72-5456-FCA6E2AF3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79" y="2908741"/>
                <a:ext cx="10558352" cy="3674938"/>
              </a:xfrm>
            </p:spPr>
            <p:txBody>
              <a:bodyPr>
                <a:normAutofit fontScale="70000" lnSpcReduction="20000"/>
              </a:bodyPr>
              <a:lstStyle/>
              <a:p>
                <a:pPr algn="just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sz="3200" dirty="0"/>
                  <a:t>Dot Product: Consider the dot product of two 4-length signed INT-8 vectors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sz="3200" b="1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-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-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900" b="1" i="1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-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9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2900" b="1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sz="3100" dirty="0"/>
                  <a:t>Dot product is defined as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900" b="1" i="1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900" b="1" i="1">
                          <a:latin typeface="Cambria Math" panose="02040503050406030204" pitchFamily="18" charset="0"/>
                        </a:rPr>
                        <m:t>𝑨𝑻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900" b="1" i="0" smtClean="0">
                          <a:latin typeface="Cambria Math" panose="020405030504060302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lang="en-US" sz="29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900" b="1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900" b="1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900" b="1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).</m:t>
                          </m:r>
                          <m:r>
                            <m:rPr>
                              <m:sty m:val="p"/>
                            </m:rPr>
                            <a:rPr lang="en-US" sz="2900" b="1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900" b="1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9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=(1 </m:t>
                      </m:r>
                      <m:r>
                        <m:rPr>
                          <m:sty m:val="p"/>
                        </m:rPr>
                        <a:rPr lang="en-US" sz="2900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3)+(-2 </m:t>
                      </m:r>
                      <m:r>
                        <m:rPr>
                          <m:sty m:val="p"/>
                        </m:rPr>
                        <a:rPr lang="en-US" sz="2900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4)+(3 </m:t>
                      </m:r>
                      <m:r>
                        <m:rPr>
                          <m:sty m:val="p"/>
                        </m:rPr>
                        <a:rPr lang="en-US" sz="2900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-5) +(-4 </m:t>
                      </m:r>
                      <m:r>
                        <m:rPr>
                          <m:sty m:val="p"/>
                        </m:rPr>
                        <a:rPr lang="en-US" sz="2900" b="1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900" b="1" i="1" smtClean="0">
                          <a:latin typeface="Cambria Math" panose="02040503050406030204" pitchFamily="18" charset="0"/>
                        </a:rPr>
                        <m:t> 6) = -44</m:t>
                      </m:r>
                    </m:oMath>
                  </m:oMathPara>
                </a14:m>
                <a:endParaRPr lang="en-US" sz="2900" dirty="0"/>
              </a:p>
              <a:p>
                <a:pPr algn="just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sz="3100" dirty="0"/>
                  <a:t>Requires 4 parallel multiplications and 3 addition operations.</a:t>
                </a:r>
              </a:p>
              <a:p>
                <a:pPr algn="just">
                  <a:lnSpc>
                    <a:spcPct val="120000"/>
                  </a:lnSpc>
                  <a:buFont typeface="Wingdings" pitchFamily="2" charset="2"/>
                  <a:buChar char="§"/>
                </a:pPr>
                <a:r>
                  <a:rPr lang="en-US" sz="3100" dirty="0"/>
                  <a:t>Naturally suited for parallel and pipelined hardware implementations. </a:t>
                </a:r>
                <a:endParaRPr lang="en-US" sz="31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0831F1-746F-6B72-5456-FCA6E2AF3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79" y="2908741"/>
                <a:ext cx="10558352" cy="3674938"/>
              </a:xfrm>
              <a:blipFill>
                <a:blip r:embed="rId3"/>
                <a:stretch>
                  <a:fillRect l="-601" t="-687" b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94EA6B-81E9-F1C4-DFD6-A817A971894F}"/>
              </a:ext>
            </a:extLst>
          </p:cNvPr>
          <p:cNvSpPr txBox="1"/>
          <p:nvPr/>
        </p:nvSpPr>
        <p:spPr>
          <a:xfrm>
            <a:off x="5640779" y="29747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2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CBB77-C821-45B5-1C93-5C97AD0D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3E158E-DC24-5AAD-D5EF-D210DAC56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54D9A-9909-88DC-6F0E-749E1313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7427026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MAC Unit Datapath &amp; Pipelined Architecture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381A35B-C2BA-6A45-9A8C-F601212B7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6B450C48-D2B6-F012-B4C2-F227B4B5E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7313" y="2469896"/>
            <a:ext cx="4574296" cy="300167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3BF80A-B865-66A1-6E5B-B3C378B52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541" y="2469896"/>
            <a:ext cx="5205144" cy="30016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8377BE-00BB-E7D4-BC5E-28491EA97407}"/>
              </a:ext>
            </a:extLst>
          </p:cNvPr>
          <p:cNvSpPr txBox="1"/>
          <p:nvPr/>
        </p:nvSpPr>
        <p:spPr>
          <a:xfrm>
            <a:off x="1193179" y="5742878"/>
            <a:ext cx="4137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1: </a:t>
            </a:r>
            <a:r>
              <a:rPr lang="en-US" sz="1600" dirty="0" err="1"/>
              <a:t>mac_unit</a:t>
            </a:r>
            <a:r>
              <a:rPr lang="en-US" sz="1600" dirty="0"/>
              <a:t> interface block diagram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F4C02-96A2-7E87-B56B-0E645245CB28}"/>
              </a:ext>
            </a:extLst>
          </p:cNvPr>
          <p:cNvSpPr txBox="1"/>
          <p:nvPr/>
        </p:nvSpPr>
        <p:spPr>
          <a:xfrm>
            <a:off x="7191144" y="5727489"/>
            <a:ext cx="3136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</a:t>
            </a:r>
            <a:r>
              <a:rPr lang="en-US" dirty="0"/>
              <a:t>2</a:t>
            </a:r>
            <a:r>
              <a:rPr lang="en-US" sz="1800" dirty="0"/>
              <a:t>: MAC </a:t>
            </a:r>
            <a:r>
              <a:rPr lang="en-US" dirty="0"/>
              <a:t>Unit Datapath 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92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DB2CB-9785-86D7-0DB1-269DC34D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25F498-C1B6-4755-20CE-EC05A421A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03E6E-C118-92EF-DDD2-A2B9C17D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7427026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Pipeline Control and Timing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834ADC6-C8F4-3F4E-A771-71957963D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D55E2-3124-7261-1583-FC59E9E7ED3C}"/>
              </a:ext>
            </a:extLst>
          </p:cNvPr>
          <p:cNvSpPr txBox="1"/>
          <p:nvPr/>
        </p:nvSpPr>
        <p:spPr>
          <a:xfrm>
            <a:off x="6777972" y="6029167"/>
            <a:ext cx="3725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Figure 3: MAC Unit Pipeline Data Flow  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BB227F-1356-E238-A726-07B91A82F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08984" y="2043886"/>
            <a:ext cx="4889087" cy="3985281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F43E47-8729-EC78-F113-651D678A5AB9}"/>
              </a:ext>
            </a:extLst>
          </p:cNvPr>
          <p:cNvSpPr txBox="1"/>
          <p:nvPr/>
        </p:nvSpPr>
        <p:spPr>
          <a:xfrm>
            <a:off x="838200" y="2708505"/>
            <a:ext cx="44799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200" b="1" dirty="0"/>
              <a:t>Pulse-Triggered Execution:</a:t>
            </a:r>
            <a:r>
              <a:rPr lang="en-SG" sz="2200" dirty="0"/>
              <a:t> A single-cycle </a:t>
            </a:r>
            <a:r>
              <a:rPr lang="en-SG" sz="2200" dirty="0" err="1"/>
              <a:t>i_start</a:t>
            </a:r>
            <a:r>
              <a:rPr lang="en-SG" sz="2200" dirty="0"/>
              <a:t> launches the 3-stage pipeline.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200" b="1" dirty="0"/>
              <a:t>Delay-Matched Control:</a:t>
            </a:r>
            <a:r>
              <a:rPr lang="en-SG" sz="2200" dirty="0"/>
              <a:t> Control signals are register-aligned with </a:t>
            </a:r>
            <a:r>
              <a:rPr lang="en-SG" sz="2200" dirty="0" err="1"/>
              <a:t>datapath</a:t>
            </a:r>
            <a:r>
              <a:rPr lang="en-SG" sz="2200" dirty="0"/>
              <a:t> stages.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2200" b="1" dirty="0"/>
              <a:t>Deterministic Output:</a:t>
            </a:r>
            <a:r>
              <a:rPr lang="en-SG" sz="2200" dirty="0"/>
              <a:t> </a:t>
            </a:r>
            <a:r>
              <a:rPr lang="en-SG" sz="2200" dirty="0" err="1"/>
              <a:t>o_valid</a:t>
            </a:r>
            <a:r>
              <a:rPr lang="en-SG" sz="2200" dirty="0"/>
              <a:t> asserts the 18-bit output.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454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6981E-4C2E-4DF6-F865-54450070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43C028-C6BE-FFDD-85D9-9941AA2E8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C794B-B9B9-9B15-B728-F9543F4F3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7427026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Verification – Waveform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2A97049-227D-1AA4-F222-22218E916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1A411F-121C-2CA9-6E1B-916EEA70E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831702" y="1890380"/>
            <a:ext cx="10525547" cy="444451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F90F2E-E9BC-6200-E0F9-AE4E8E267BF5}"/>
              </a:ext>
            </a:extLst>
          </p:cNvPr>
          <p:cNvSpPr txBox="1"/>
          <p:nvPr/>
        </p:nvSpPr>
        <p:spPr>
          <a:xfrm>
            <a:off x="4131733" y="6401362"/>
            <a:ext cx="387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4: MAC Unit Output Waveform </a:t>
            </a:r>
          </a:p>
        </p:txBody>
      </p:sp>
    </p:spTree>
    <p:extLst>
      <p:ext uri="{BB962C8B-B14F-4D97-AF65-F5344CB8AC3E}">
        <p14:creationId xmlns:p14="http://schemas.microsoft.com/office/powerpoint/2010/main" val="293983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DCA85-9A94-E0E5-876C-B63C8932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CD8C3D-9B72-8B8D-3D63-3E9D0E34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3980E-8E15-7FBC-A927-66EBECBA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7427026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Verification – </a:t>
            </a:r>
            <a:r>
              <a:rPr lang="en-US" sz="3000" b="1" dirty="0" err="1"/>
              <a:t>cocotb</a:t>
            </a:r>
            <a:r>
              <a:rPr lang="en-US" sz="3000" b="1" dirty="0"/>
              <a:t> (Python-Based)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FC099D7-14B3-EF74-0AEE-8899C0EB5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5C24645-D670-3FAC-0718-EE7916DF8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7" y="2155848"/>
            <a:ext cx="10853928" cy="3776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B356AE-F6CD-6451-8F3B-5471BB0649C8}"/>
              </a:ext>
            </a:extLst>
          </p:cNvPr>
          <p:cNvSpPr txBox="1"/>
          <p:nvPr/>
        </p:nvSpPr>
        <p:spPr>
          <a:xfrm>
            <a:off x="3273777" y="6025767"/>
            <a:ext cx="647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5:  </a:t>
            </a:r>
            <a:r>
              <a:rPr lang="en-SG" dirty="0" err="1"/>
              <a:t>cocotb</a:t>
            </a:r>
            <a:r>
              <a:rPr lang="en-SG" dirty="0"/>
              <a:t> Console Log – MAC Unit Functional Verification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2322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0C8AB-9092-8CBE-059A-5D6BBFD6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42FD62-E7E5-3382-B3FE-78DE7602E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2C0D2-8E7D-6B55-D2E5-EF13107E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9362704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Task 2 : System Integration – Memory Mapped Interface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F69148B-EACB-904D-3F05-196DB6893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983890-4B1B-174B-00F9-3F89C69F7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5892259" y="2052636"/>
            <a:ext cx="5123145" cy="35181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B2F4CE-EF90-3A1B-7DED-3627F03BE67D}"/>
              </a:ext>
            </a:extLst>
          </p:cNvPr>
          <p:cNvSpPr txBox="1"/>
          <p:nvPr/>
        </p:nvSpPr>
        <p:spPr>
          <a:xfrm>
            <a:off x="6393610" y="5937680"/>
            <a:ext cx="4120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</a:t>
            </a:r>
            <a:r>
              <a:rPr lang="en-US" dirty="0"/>
              <a:t>6: Data Flow Diagram Top Module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2EA0D-580A-3DE5-F1D5-FB4823915BDE}"/>
              </a:ext>
            </a:extLst>
          </p:cNvPr>
          <p:cNvSpPr txBox="1"/>
          <p:nvPr/>
        </p:nvSpPr>
        <p:spPr>
          <a:xfrm>
            <a:off x="669036" y="1865842"/>
            <a:ext cx="43413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200" b="1" dirty="0"/>
              <a:t>Unified Top-Level</a:t>
            </a:r>
            <a:r>
              <a:rPr lang="en-SG" sz="2200" dirty="0"/>
              <a:t>: Integrates the MAC compute core with a Register-Mapped Memory Interface.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200" b="1" dirty="0"/>
              <a:t>Dual-Strategy: </a:t>
            </a:r>
            <a:r>
              <a:rPr lang="en-SG" sz="2200" dirty="0"/>
              <a:t>Built to support both "Stalled" (safety-first) and "Streaming" (performance-first) control logic.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sz="2200" b="1" dirty="0"/>
              <a:t>Modular Design</a:t>
            </a:r>
            <a:r>
              <a:rPr lang="en-SG" sz="2200" dirty="0"/>
              <a:t>: Allows for easy swapping between 'Stalled' and 'Streaming' control logic.</a:t>
            </a:r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2532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470AE-B74D-EBF6-3852-6DB315AB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03DBFA-8501-3127-844D-25BB8D1EE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34679-F971-2BB3-5CFB-31A102FE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9362704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Top Module Architecture &amp; Register Map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012934E-E6D7-C956-032F-8613B5F5D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5EF8B43-F363-7093-6F00-82E1B86F9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24402" y="2094523"/>
            <a:ext cx="2878479" cy="2043269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A532F1-6EEF-B5A8-7D2A-B482587ABD00}"/>
              </a:ext>
            </a:extLst>
          </p:cNvPr>
          <p:cNvSpPr txBox="1"/>
          <p:nvPr/>
        </p:nvSpPr>
        <p:spPr>
          <a:xfrm>
            <a:off x="4077587" y="4227628"/>
            <a:ext cx="4033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7</a:t>
            </a:r>
            <a:r>
              <a:rPr lang="en-US" dirty="0"/>
              <a:t>: Top Module Block Diagram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3DF76-3E1D-F4E5-B306-15C9359952FC}"/>
              </a:ext>
            </a:extLst>
          </p:cNvPr>
          <p:cNvSpPr txBox="1"/>
          <p:nvPr/>
        </p:nvSpPr>
        <p:spPr>
          <a:xfrm>
            <a:off x="4279040" y="6161502"/>
            <a:ext cx="3966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8</a:t>
            </a:r>
            <a:r>
              <a:rPr lang="en-US" dirty="0"/>
              <a:t>: Register Mapping of Memory</a:t>
            </a:r>
            <a:endParaRPr lang="en-US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96E61A-9877-4480-32C8-7B98EB073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45" y="4870619"/>
            <a:ext cx="10973817" cy="12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5C448-CAD3-2A8F-388D-58D0FB3B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FAA4B4-DBEA-3CCB-5E19-28904164D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56F70-4FCB-2249-8060-9BB9F157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9362704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Control Strategy 1 : Stalled Approach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DBAECC4-3C2C-70A0-9729-F7D62F55B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8893A-302F-7CF6-1CB3-2C4987B6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428"/>
            <a:ext cx="4685778" cy="443521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  <a:p>
            <a:pPr algn="just">
              <a:lnSpc>
                <a:spcPct val="100000"/>
              </a:lnSpc>
            </a:pPr>
            <a:r>
              <a:rPr lang="en-SG" sz="2400" b="1" dirty="0"/>
              <a:t>Sequential Locking:</a:t>
            </a:r>
            <a:r>
              <a:rPr lang="en-SG" sz="2400" dirty="0"/>
              <a:t> Prevents a new memory read or write while a calculation is in progress to avoid a data hazard.</a:t>
            </a:r>
          </a:p>
          <a:p>
            <a:pPr algn="just">
              <a:lnSpc>
                <a:spcPct val="100000"/>
              </a:lnSpc>
            </a:pPr>
            <a:r>
              <a:rPr lang="en-SG" sz="2400" b="1" dirty="0"/>
              <a:t>Deterministic FSM: </a:t>
            </a:r>
            <a:r>
              <a:rPr lang="en-SG" sz="2400" dirty="0"/>
              <a:t>A simple, robust state machine that ensures the CPU only reads valid, finished results.</a:t>
            </a:r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A84A57C0-8B0E-5030-5357-445C0D71A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87" y="2494683"/>
            <a:ext cx="5898778" cy="3155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D252C4-DF00-5E39-B969-A1A48583EE77}"/>
              </a:ext>
            </a:extLst>
          </p:cNvPr>
          <p:cNvSpPr txBox="1"/>
          <p:nvPr/>
        </p:nvSpPr>
        <p:spPr>
          <a:xfrm>
            <a:off x="6513576" y="5829112"/>
            <a:ext cx="4259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9</a:t>
            </a:r>
            <a:r>
              <a:rPr lang="en-US" dirty="0"/>
              <a:t>: Stalled Implementation FSM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5063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7AF40-5CA8-CFAD-38A7-72AB8F5F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37488-E642-BD74-B199-9D47712F4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3AF6A-F189-C8E2-CDA1-93BF6821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9362704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Control Strategy 2 : Streaming (Fully Pipelined)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C3A875A-5D32-F4C4-DF59-FAE58C8F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5E7E-7CCC-ADA4-614E-5FE06C6EE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1282"/>
            <a:ext cx="4034426" cy="42763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algn="just">
              <a:lnSpc>
                <a:spcPct val="110000"/>
              </a:lnSpc>
            </a:pPr>
            <a:r>
              <a:rPr lang="en-SG" sz="2400" b="1" dirty="0"/>
              <a:t>Throughput Optimized:</a:t>
            </a:r>
            <a:r>
              <a:rPr lang="en-SG" sz="2400" dirty="0"/>
              <a:t> Removes FSM wait-states, allowing the MAC unit to produce one result per clock cycle.</a:t>
            </a:r>
          </a:p>
          <a:p>
            <a:pPr algn="just">
              <a:lnSpc>
                <a:spcPct val="110000"/>
              </a:lnSpc>
            </a:pPr>
            <a:r>
              <a:rPr lang="en-SG" sz="2400" b="1" dirty="0"/>
              <a:t>Data-In-Flight Management:</a:t>
            </a:r>
            <a:r>
              <a:rPr lang="en-SG" sz="2400" dirty="0"/>
              <a:t> Logic allows the memory interface to accept new inputs while previous results are being computed.</a:t>
            </a:r>
            <a:endParaRPr lang="en-US" sz="2400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BF6CFE87-9EAC-0868-E73D-AF14331A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879" y="2592889"/>
            <a:ext cx="5762086" cy="29468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988751-2B7E-3BA0-E50C-392E449E5257}"/>
              </a:ext>
            </a:extLst>
          </p:cNvPr>
          <p:cNvSpPr txBox="1"/>
          <p:nvPr/>
        </p:nvSpPr>
        <p:spPr>
          <a:xfrm>
            <a:off x="6701572" y="5644856"/>
            <a:ext cx="4821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10</a:t>
            </a:r>
            <a:r>
              <a:rPr lang="en-US" dirty="0"/>
              <a:t>: Streaming Implementation FSM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533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B78E9-42BE-08C3-A3FF-979E57E1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B44479-DEC1-511B-C0F4-0F1F0150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4F774-C405-0464-6DCE-FADE5803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9362704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Verification : Stalled Approach Waveform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09A91C6-404F-4891-B226-48AD2D3B8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D8242-87BD-EEFA-0E46-6547A3B58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1447800" y="1847105"/>
            <a:ext cx="9105900" cy="45488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D19A21-73B4-E21E-1F52-49B14E23E425}"/>
              </a:ext>
            </a:extLst>
          </p:cNvPr>
          <p:cNvSpPr txBox="1"/>
          <p:nvPr/>
        </p:nvSpPr>
        <p:spPr>
          <a:xfrm>
            <a:off x="3676390" y="6442333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11</a:t>
            </a:r>
            <a:r>
              <a:rPr lang="en-US" dirty="0"/>
              <a:t>: Stalled Implementation Waveform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1738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13F9A-E0AF-282C-88F9-F33DE5B8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69B8AE-AB85-B586-751C-6160E82E7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51032-F716-17C3-89E0-76FCE040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10439400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Verification : Streaming (Fully Pipelined) Waveform Analysis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F0E5CEC-CEA9-C4E0-382B-71F9ACD5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92E96-D82B-FFA3-AF5D-3A49D375B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1300226" y="1834405"/>
            <a:ext cx="9545574" cy="456161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6C5B5E-BC9C-A4BE-7992-55277B224307}"/>
              </a:ext>
            </a:extLst>
          </p:cNvPr>
          <p:cNvSpPr txBox="1"/>
          <p:nvPr/>
        </p:nvSpPr>
        <p:spPr>
          <a:xfrm>
            <a:off x="3638811" y="6442346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12</a:t>
            </a:r>
            <a:r>
              <a:rPr lang="en-US" dirty="0"/>
              <a:t>: Streaming Implementation Waveform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918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DAF61-AEC3-45C9-5EEC-90E67E5B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4FE615-3677-F5AC-74F8-7F37898C4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4E0EB-CCD5-1DE3-9308-9064ADD2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10439400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Verification : Streaming (Fully Pipelined) </a:t>
            </a:r>
            <a:r>
              <a:rPr lang="en-US" sz="3000" b="1" dirty="0" err="1"/>
              <a:t>cocotb</a:t>
            </a:r>
            <a:r>
              <a:rPr lang="en-US" sz="3000" b="1" dirty="0"/>
              <a:t> (Python Based)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8E287F1-6A25-7E2F-B46C-67001F0AD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5852A61-9495-6620-D3AD-FC8769119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5350" y="1847087"/>
            <a:ext cx="7861300" cy="452831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D495C4-69B0-7EA2-F08F-CB7D6891A8FD}"/>
              </a:ext>
            </a:extLst>
          </p:cNvPr>
          <p:cNvSpPr txBox="1"/>
          <p:nvPr/>
        </p:nvSpPr>
        <p:spPr>
          <a:xfrm>
            <a:off x="2937354" y="6438217"/>
            <a:ext cx="7196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13</a:t>
            </a:r>
            <a:r>
              <a:rPr lang="en-US" dirty="0"/>
              <a:t>: </a:t>
            </a:r>
            <a:r>
              <a:rPr lang="en-SG" dirty="0" err="1"/>
              <a:t>cocotb</a:t>
            </a:r>
            <a:r>
              <a:rPr lang="en-SG" dirty="0"/>
              <a:t> Console Log – Top Module Functional Verification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2672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3C869-41B0-2B51-5797-2F5080C8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3E7F8E-0A74-0BC9-3383-D64AFD77E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54B6A-8F60-C484-C673-69627492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10439400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Implementation Results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E02E789-BD29-18C0-92B3-FF521E8D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865F6-5E90-A1F8-26E3-5748953AA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76" y="4565120"/>
            <a:ext cx="7772400" cy="111494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24CD3-6512-6E32-C78C-ACD573409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76" y="2030409"/>
            <a:ext cx="7772400" cy="19054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E14D8B-C2F9-81D9-EC63-66570668F366}"/>
              </a:ext>
            </a:extLst>
          </p:cNvPr>
          <p:cNvSpPr txBox="1"/>
          <p:nvPr/>
        </p:nvSpPr>
        <p:spPr>
          <a:xfrm>
            <a:off x="3501025" y="3999625"/>
            <a:ext cx="618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14</a:t>
            </a:r>
            <a:r>
              <a:rPr lang="en-US" dirty="0"/>
              <a:t>: </a:t>
            </a:r>
            <a:r>
              <a:rPr lang="en-SG" dirty="0"/>
              <a:t>Resource Utilization – Streaming Implementation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19D2F-0820-92CA-4E94-9F6FBD1EACF6}"/>
              </a:ext>
            </a:extLst>
          </p:cNvPr>
          <p:cNvSpPr txBox="1"/>
          <p:nvPr/>
        </p:nvSpPr>
        <p:spPr>
          <a:xfrm>
            <a:off x="3338187" y="5807631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15</a:t>
            </a:r>
            <a:r>
              <a:rPr lang="en-US" dirty="0"/>
              <a:t>: </a:t>
            </a:r>
            <a:r>
              <a:rPr lang="en-SG" dirty="0"/>
              <a:t>Timing Summary – Streaming Implementation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7178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647E5-5810-F765-8B78-6B7C99AB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5F3D86-545C-2FB8-1A10-73D67D689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08A5A-57B7-F9C2-75FB-F26396D3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10439400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Task 3 : Processor Microarchitectures (Serial Architecture)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5286B3B-7F67-1FDF-299B-B5B3653D4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DE2D2-5FA3-1703-7814-81EC7053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359"/>
            <a:ext cx="3559918" cy="460699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SG" sz="2200" b="1" dirty="0"/>
              <a:t>Single-Cycle Execution Path:</a:t>
            </a:r>
            <a:r>
              <a:rPr lang="en-SG" sz="2200" dirty="0"/>
              <a:t> Processes a complete instruction from Fetch to Write-Back within one clock period.</a:t>
            </a:r>
          </a:p>
          <a:p>
            <a:pPr algn="just">
              <a:lnSpc>
                <a:spcPct val="100000"/>
              </a:lnSpc>
            </a:pPr>
            <a:r>
              <a:rPr lang="en-SG" sz="2200" b="1" dirty="0"/>
              <a:t>Longest Path Timing Constraint:</a:t>
            </a:r>
            <a:r>
              <a:rPr lang="en-SG" sz="2200" dirty="0"/>
              <a:t> The clock frequency is limited by the total accumulated delay of all combinatorial logic blocks.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2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2200" dirty="0"/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41BD7E6F-C65A-CD5F-4D14-E95799CD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318" y="2350244"/>
            <a:ext cx="7618434" cy="2657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5A6C17-9160-141F-90E8-D37BF40264F1}"/>
              </a:ext>
            </a:extLst>
          </p:cNvPr>
          <p:cNvSpPr txBox="1"/>
          <p:nvPr/>
        </p:nvSpPr>
        <p:spPr>
          <a:xfrm>
            <a:off x="7503611" y="5331835"/>
            <a:ext cx="3231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16</a:t>
            </a:r>
            <a:r>
              <a:rPr lang="en-US" dirty="0"/>
              <a:t>: Serial Architecture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0164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AA4EC-CAF9-02E1-0CB2-22DCD249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2BE5A9-2A6C-48DD-BBB5-0082B087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0B248-6519-3B2C-0F42-1ED8FCA1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556"/>
            <a:ext cx="10439400" cy="1031132"/>
          </a:xfrm>
        </p:spPr>
        <p:txBody>
          <a:bodyPr>
            <a:normAutofit/>
          </a:bodyPr>
          <a:lstStyle/>
          <a:p>
            <a:r>
              <a:rPr lang="en-US" sz="3000" b="1" dirty="0"/>
              <a:t>Task 3 : Processor Microarchitectures (Pipelined Architecture)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B3679D8-8994-BC29-0263-CFC86E997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A7F77-DC99-91D2-4800-0932BB9C5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530" y="2350244"/>
            <a:ext cx="3758851" cy="358482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SG" sz="2200" b="1" dirty="0"/>
              <a:t>Parallelism:</a:t>
            </a:r>
            <a:r>
              <a:rPr lang="en-SG" sz="2200" dirty="0"/>
              <a:t> It overlaps multiple instructions across distinct hardware stages to maximize resource utilization.</a:t>
            </a:r>
          </a:p>
          <a:p>
            <a:pPr algn="just">
              <a:lnSpc>
                <a:spcPct val="100000"/>
              </a:lnSpc>
            </a:pPr>
            <a:r>
              <a:rPr lang="en-SG" sz="2200" b="1" dirty="0"/>
              <a:t>Enhanced Throughput:</a:t>
            </a:r>
            <a:r>
              <a:rPr lang="en-SG" sz="2200" dirty="0"/>
              <a:t> Breaks the critical path into smaller segments, enabling a higher clock frequency.</a:t>
            </a:r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A01C5284-CCB4-A38C-4E43-C3F42ADCC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724" y="2350244"/>
            <a:ext cx="6848752" cy="27750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6FCCBA-70E7-DE3C-E273-14CB6F7790C9}"/>
              </a:ext>
            </a:extLst>
          </p:cNvPr>
          <p:cNvSpPr txBox="1"/>
          <p:nvPr/>
        </p:nvSpPr>
        <p:spPr>
          <a:xfrm>
            <a:off x="7396620" y="5465315"/>
            <a:ext cx="3450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17</a:t>
            </a:r>
            <a:r>
              <a:rPr lang="en-US" dirty="0"/>
              <a:t>: Pipelined Architecture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035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087E5-2863-87DA-DE15-0DC22046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r>
              <a:rPr lang="en-US" sz="6600" dirty="0">
                <a:sym typeface="Wingdings" pitchFamily="2" charset="2"/>
              </a:rPr>
              <a:t> 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F590A-63C7-3DAA-28FC-249D052E6FAE}"/>
              </a:ext>
            </a:extLst>
          </p:cNvPr>
          <p:cNvSpPr txBox="1"/>
          <p:nvPr/>
        </p:nvSpPr>
        <p:spPr>
          <a:xfrm>
            <a:off x="838200" y="4937557"/>
            <a:ext cx="608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varunposimsetty@gmail.com</a:t>
            </a:r>
            <a:r>
              <a:rPr lang="en-S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SG" dirty="0"/>
              <a:t>| </a:t>
            </a:r>
            <a:r>
              <a:rPr lang="en-SG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S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SG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varunposimsetty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080472-034D-BF4F-AB04-130D19188F64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</TotalTime>
  <Words>639</Words>
  <Application>Microsoft Macintosh PowerPoint</Application>
  <PresentationFormat>Widescreen</PresentationFormat>
  <Paragraphs>80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 Theme</vt:lpstr>
      <vt:lpstr>        Task Assignment Presentation </vt:lpstr>
      <vt:lpstr>Presentation Overview</vt:lpstr>
      <vt:lpstr>Task 1 : Hardware Design – The MAC Unit (Compute Core)</vt:lpstr>
      <vt:lpstr>MAC Unit Datapath &amp; Pipelined Architecture</vt:lpstr>
      <vt:lpstr>Pipeline Control and Timing</vt:lpstr>
      <vt:lpstr>Verification – Waveform Analysis</vt:lpstr>
      <vt:lpstr>Verification – cocotb (Python-Based)</vt:lpstr>
      <vt:lpstr>Task 2 : System Integration – Memory Mapped Interface </vt:lpstr>
      <vt:lpstr>Top Module Architecture &amp; Register Map</vt:lpstr>
      <vt:lpstr>Control Strategy 1 : Stalled Approach</vt:lpstr>
      <vt:lpstr>Control Strategy 2 : Streaming (Fully Pipelined)</vt:lpstr>
      <vt:lpstr>Verification : Stalled Approach Waveform Analysis</vt:lpstr>
      <vt:lpstr>Verification : Streaming (Fully Pipelined) Waveform Analysis</vt:lpstr>
      <vt:lpstr>Verification : Streaming (Fully Pipelined) cocotb (Python Based)</vt:lpstr>
      <vt:lpstr>Implementation Results</vt:lpstr>
      <vt:lpstr>Task 3 : Processor Microarchitectures (Serial Architecture)</vt:lpstr>
      <vt:lpstr>Task 3 : Processor Microarchitectures (Pipelined Architecture)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#POSIMSETTY VARUN SRINIVAS#</dc:creator>
  <cp:lastModifiedBy>#POSIMSETTY VARUN SRINIVAS#</cp:lastModifiedBy>
  <cp:revision>92</cp:revision>
  <dcterms:created xsi:type="dcterms:W3CDTF">2026-01-20T14:02:46Z</dcterms:created>
  <dcterms:modified xsi:type="dcterms:W3CDTF">2026-02-06T18:28:23Z</dcterms:modified>
</cp:coreProperties>
</file>